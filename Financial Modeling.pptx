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88"/>
  </p:notesMasterIdLst>
  <p:sldIdLst>
    <p:sldId id="290" r:id="rId2"/>
    <p:sldId id="296" r:id="rId3"/>
    <p:sldId id="297" r:id="rId4"/>
    <p:sldId id="298" r:id="rId5"/>
    <p:sldId id="299" r:id="rId6"/>
    <p:sldId id="300" r:id="rId7"/>
    <p:sldId id="301" r:id="rId8"/>
    <p:sldId id="302" r:id="rId9"/>
    <p:sldId id="303" r:id="rId10"/>
    <p:sldId id="383" r:id="rId11"/>
    <p:sldId id="345" r:id="rId12"/>
    <p:sldId id="346" r:id="rId13"/>
    <p:sldId id="347" r:id="rId14"/>
    <p:sldId id="348" r:id="rId15"/>
    <p:sldId id="349" r:id="rId16"/>
    <p:sldId id="350" r:id="rId17"/>
    <p:sldId id="351" r:id="rId18"/>
    <p:sldId id="352" r:id="rId19"/>
    <p:sldId id="353" r:id="rId20"/>
    <p:sldId id="354" r:id="rId21"/>
    <p:sldId id="266" r:id="rId22"/>
    <p:sldId id="267" r:id="rId23"/>
    <p:sldId id="268" r:id="rId24"/>
    <p:sldId id="269" r:id="rId25"/>
    <p:sldId id="270" r:id="rId26"/>
    <p:sldId id="271" r:id="rId27"/>
    <p:sldId id="272" r:id="rId28"/>
    <p:sldId id="307" r:id="rId29"/>
    <p:sldId id="284" r:id="rId30"/>
    <p:sldId id="285" r:id="rId31"/>
    <p:sldId id="286" r:id="rId32"/>
    <p:sldId id="287" r:id="rId33"/>
    <p:sldId id="288" r:id="rId34"/>
    <p:sldId id="289" r:id="rId35"/>
    <p:sldId id="317" r:id="rId36"/>
    <p:sldId id="318" r:id="rId37"/>
    <p:sldId id="319" r:id="rId38"/>
    <p:sldId id="320" r:id="rId39"/>
    <p:sldId id="384" r:id="rId40"/>
    <p:sldId id="321" r:id="rId41"/>
    <p:sldId id="322" r:id="rId42"/>
    <p:sldId id="323" r:id="rId43"/>
    <p:sldId id="324" r:id="rId44"/>
    <p:sldId id="325" r:id="rId45"/>
    <p:sldId id="326" r:id="rId46"/>
    <p:sldId id="327" r:id="rId47"/>
    <p:sldId id="328" r:id="rId48"/>
    <p:sldId id="355" r:id="rId49"/>
    <p:sldId id="357" r:id="rId50"/>
    <p:sldId id="364" r:id="rId51"/>
    <p:sldId id="365" r:id="rId52"/>
    <p:sldId id="361" r:id="rId53"/>
    <p:sldId id="362" r:id="rId54"/>
    <p:sldId id="363" r:id="rId55"/>
    <p:sldId id="359" r:id="rId56"/>
    <p:sldId id="360" r:id="rId57"/>
    <p:sldId id="366" r:id="rId58"/>
    <p:sldId id="370" r:id="rId59"/>
    <p:sldId id="369" r:id="rId60"/>
    <p:sldId id="367" r:id="rId61"/>
    <p:sldId id="368" r:id="rId62"/>
    <p:sldId id="371" r:id="rId63"/>
    <p:sldId id="372" r:id="rId64"/>
    <p:sldId id="373" r:id="rId65"/>
    <p:sldId id="374" r:id="rId66"/>
    <p:sldId id="378" r:id="rId67"/>
    <p:sldId id="380" r:id="rId68"/>
    <p:sldId id="375" r:id="rId69"/>
    <p:sldId id="376" r:id="rId70"/>
    <p:sldId id="381" r:id="rId71"/>
    <p:sldId id="382"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83" autoAdjust="0"/>
  </p:normalViewPr>
  <p:slideViewPr>
    <p:cSldViewPr>
      <p:cViewPr varScale="1">
        <p:scale>
          <a:sx n="105" d="100"/>
          <a:sy n="105" d="100"/>
        </p:scale>
        <p:origin x="168"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DCD34DE-9DED-4AFB-A5FA-E1308C6ED251}" type="datetimeFigureOut">
              <a:rPr lang="en-US" smtClean="0"/>
              <a:t>7/10/2020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77D8D7-72B8-434C-AEAB-54134CA1DD5B}" type="slidenum">
              <a:rPr lang="en-US" smtClean="0"/>
              <a:t>‹#›</a:t>
            </a:fld>
            <a:endParaRPr lang="en-US" dirty="0"/>
          </a:p>
        </p:txBody>
      </p:sp>
    </p:spTree>
    <p:extLst>
      <p:ext uri="{BB962C8B-B14F-4D97-AF65-F5344CB8AC3E}">
        <p14:creationId xmlns:p14="http://schemas.microsoft.com/office/powerpoint/2010/main" val="3868580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DIO – Days Inventory</a:t>
            </a:r>
            <a:r>
              <a:rPr lang="en-US" baseline="0" dirty="0"/>
              <a:t> Outstanding</a:t>
            </a:r>
          </a:p>
          <a:p>
            <a:r>
              <a:rPr lang="en-US" baseline="0" dirty="0"/>
              <a:t>DSO – Days Sales Outstanding</a:t>
            </a:r>
          </a:p>
          <a:p>
            <a:r>
              <a:rPr lang="en-US" baseline="0" dirty="0"/>
              <a:t>DPO – Days Payables Outstanding</a:t>
            </a:r>
            <a:endParaRPr lang="en-US" dirty="0"/>
          </a:p>
        </p:txBody>
      </p:sp>
      <p:sp>
        <p:nvSpPr>
          <p:cNvPr id="4" name="Slide Number Placeholder 3"/>
          <p:cNvSpPr>
            <a:spLocks noGrp="1"/>
          </p:cNvSpPr>
          <p:nvPr>
            <p:ph type="sldNum" sz="quarter" idx="10"/>
          </p:nvPr>
        </p:nvSpPr>
        <p:spPr/>
        <p:txBody>
          <a:bodyPr/>
          <a:lstStyle/>
          <a:p>
            <a:fld id="{8377D8D7-72B8-434C-AEAB-54134CA1DD5B}" type="slidenum">
              <a:rPr lang="en-US" smtClean="0"/>
              <a:t>22</a:t>
            </a:fld>
            <a:endParaRPr lang="en-US" dirty="0"/>
          </a:p>
        </p:txBody>
      </p:sp>
    </p:spTree>
    <p:extLst>
      <p:ext uri="{BB962C8B-B14F-4D97-AF65-F5344CB8AC3E}">
        <p14:creationId xmlns:p14="http://schemas.microsoft.com/office/powerpoint/2010/main" val="1356412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77D8D7-72B8-434C-AEAB-54134CA1DD5B}" type="slidenum">
              <a:rPr lang="en-US" smtClean="0"/>
              <a:t>32</a:t>
            </a:fld>
            <a:endParaRPr lang="en-US"/>
          </a:p>
        </p:txBody>
      </p:sp>
    </p:spTree>
    <p:extLst>
      <p:ext uri="{BB962C8B-B14F-4D97-AF65-F5344CB8AC3E}">
        <p14:creationId xmlns:p14="http://schemas.microsoft.com/office/powerpoint/2010/main" val="825953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22DEB5-A70F-4418-9DB5-49275C56F4AA}" type="slidenum">
              <a:rPr lang="en-US" smtClean="0"/>
              <a:t>46</a:t>
            </a:fld>
            <a:endParaRPr lang="en-US"/>
          </a:p>
        </p:txBody>
      </p:sp>
    </p:spTree>
    <p:extLst>
      <p:ext uri="{BB962C8B-B14F-4D97-AF65-F5344CB8AC3E}">
        <p14:creationId xmlns:p14="http://schemas.microsoft.com/office/powerpoint/2010/main" val="372359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9CDE91C-2DC4-4CBB-B108-5F1B7476727E}" type="slidenum">
              <a:rPr lang="en-US" smtClean="0"/>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9CDE91C-2DC4-4CBB-B108-5F1B7476727E}"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9CDE91C-2DC4-4CBB-B108-5F1B7476727E}" type="slidenum">
              <a:rPr lang="en-US" smtClean="0"/>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9CDE91C-2DC4-4CBB-B108-5F1B7476727E}"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9CDE91C-2DC4-4CBB-B108-5F1B7476727E}" type="slidenum">
              <a:rPr lang="en-US" smtClean="0"/>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9CDE91C-2DC4-4CBB-B108-5F1B7476727E}"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9CDE91C-2DC4-4CBB-B108-5F1B7476727E}"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9CDE91C-2DC4-4CBB-B108-5F1B7476727E}" type="slidenum">
              <a:rPr lang="en-US" smtClean="0"/>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9CDE91C-2DC4-4CBB-B108-5F1B7476727E}"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9CDE91C-2DC4-4CBB-B108-5F1B7476727E}"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BF4EF9-8BFD-4379-930E-EC7348B07050}" type="datetimeFigureOut">
              <a:rPr lang="en-US" smtClean="0"/>
              <a:t>7/10/2020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9CDE91C-2DC4-4CBB-B108-5F1B7476727E}"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FBF4EF9-8BFD-4379-930E-EC7348B07050}" type="datetimeFigureOut">
              <a:rPr lang="en-US" smtClean="0"/>
              <a:t>7/10/2020</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59CDE91C-2DC4-4CBB-B108-5F1B7476727E}"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nickpollari/FinancialModeling2020"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lmgtfy.com/?q=http://www.sec.gov/edgar/searchedgar/companysearch.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hyperlink" Target="http://office.microsoft.com/en-us/windows-sharepoint-services-help/abs-function-HA001160950.aspx?CTT=1"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hyperlink" Target="http://office.microsoft.com/en-us/excel-help/average-function-HP010062482.aspx?CTT=1"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office.microsoft.com/en-us/excel-help/create-a-drop-down-list-HA102809802.aspx?CTT=1" TargetMode="External"/><Relationship Id="rId2" Type="http://schemas.openxmlformats.org/officeDocument/2006/relationships/image" Target="../media/image14.emf"/><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hyperlink" Target="http://office.microsoft.com/en-us/excel-help/switch-between-relative-absolute-and-mixed-references-HP010342940.aspx" TargetMode="External"/><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image" Target="../media/image18.emf"/></Relationships>
</file>

<file path=ppt/slides/_rels/slide32.xml.rels><?xml version="1.0" encoding="UTF-8" standalone="yes"?>
<Relationships xmlns="http://schemas.openxmlformats.org/package/2006/relationships"><Relationship Id="rId3" Type="http://schemas.openxmlformats.org/officeDocument/2006/relationships/hyperlink" Target="http://www.smittypro.com/Blog/?p=224"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3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hyperlink" Target="http://office.microsoft.com/en-us/excel-help/excel-shortcut-and-function-keys-HP001111659.aspx"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Financial modeling</a:t>
            </a:r>
          </a:p>
        </p:txBody>
      </p:sp>
      <p:sp>
        <p:nvSpPr>
          <p:cNvPr id="3" name="Subtitle 2"/>
          <p:cNvSpPr>
            <a:spLocks noGrp="1"/>
          </p:cNvSpPr>
          <p:nvPr>
            <p:ph type="subTitle" idx="1"/>
          </p:nvPr>
        </p:nvSpPr>
        <p:spPr/>
        <p:txBody>
          <a:bodyPr/>
          <a:lstStyle/>
          <a:p>
            <a:r>
              <a:rPr lang="en-US" dirty="0"/>
              <a:t>Nick Pollari, CFA</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8975" y="5334000"/>
            <a:ext cx="2105025"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A0A8132C-1B2F-42C4-A816-93D676EA551B}"/>
              </a:ext>
            </a:extLst>
          </p:cNvPr>
          <p:cNvSpPr txBox="1"/>
          <p:nvPr/>
        </p:nvSpPr>
        <p:spPr>
          <a:xfrm>
            <a:off x="685800" y="4343400"/>
            <a:ext cx="7086600" cy="923330"/>
          </a:xfrm>
          <a:prstGeom prst="rect">
            <a:avLst/>
          </a:prstGeom>
          <a:noFill/>
        </p:spPr>
        <p:txBody>
          <a:bodyPr wrap="square" rtlCol="0">
            <a:spAutoFit/>
          </a:bodyPr>
          <a:lstStyle/>
          <a:p>
            <a:r>
              <a:rPr lang="en-US" dirty="0"/>
              <a:t>If you didn’t download the files through canvas, they can be found at the </a:t>
            </a:r>
            <a:r>
              <a:rPr lang="en-US"/>
              <a:t>following link:</a:t>
            </a:r>
            <a:br>
              <a:rPr lang="en-US"/>
            </a:br>
            <a:r>
              <a:rPr lang="en-US">
                <a:hlinkClick r:id="rId3"/>
              </a:rPr>
              <a:t>https://github.com/nickpollari/FinancialModeling2020</a:t>
            </a:r>
            <a:endParaRPr lang="en-US"/>
          </a:p>
        </p:txBody>
      </p:sp>
    </p:spTree>
    <p:extLst>
      <p:ext uri="{BB962C8B-B14F-4D97-AF65-F5344CB8AC3E}">
        <p14:creationId xmlns:p14="http://schemas.microsoft.com/office/powerpoint/2010/main" val="2240264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Model inputs</a:t>
            </a:r>
          </a:p>
        </p:txBody>
      </p:sp>
      <p:sp>
        <p:nvSpPr>
          <p:cNvPr id="5" name="Text Placeholder 4"/>
          <p:cNvSpPr>
            <a:spLocks noGrp="1"/>
          </p:cNvSpPr>
          <p:nvPr>
            <p:ph type="body" idx="1"/>
          </p:nvPr>
        </p:nvSpPr>
        <p:spPr/>
        <p:txBody>
          <a:bodyPr/>
          <a:lstStyle/>
          <a:p>
            <a:r>
              <a:rPr lang="en-US" dirty="0"/>
              <a:t>Financial Statements</a:t>
            </a:r>
          </a:p>
        </p:txBody>
      </p:sp>
    </p:spTree>
    <p:extLst>
      <p:ext uri="{BB962C8B-B14F-4D97-AF65-F5344CB8AC3E}">
        <p14:creationId xmlns:p14="http://schemas.microsoft.com/office/powerpoint/2010/main" val="1874009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	</a:t>
            </a:r>
          </a:p>
        </p:txBody>
      </p:sp>
      <p:sp>
        <p:nvSpPr>
          <p:cNvPr id="5" name="Content Placeholder 4"/>
          <p:cNvSpPr>
            <a:spLocks noGrp="1"/>
          </p:cNvSpPr>
          <p:nvPr>
            <p:ph idx="1"/>
          </p:nvPr>
        </p:nvSpPr>
        <p:spPr/>
        <p:txBody>
          <a:bodyPr/>
          <a:lstStyle/>
          <a:p>
            <a:r>
              <a:rPr lang="en-US" dirty="0"/>
              <a:t>Financial modeling:</a:t>
            </a:r>
          </a:p>
          <a:p>
            <a:pPr lvl="1"/>
            <a:r>
              <a:rPr lang="en-US" dirty="0"/>
              <a:t>A spreadsheet designed to facilitate analysis of a particular set of financial figures. Here, we will be using real financial statements of a public company to develop our opinion on the company’s intrinsic value</a:t>
            </a:r>
          </a:p>
          <a:p>
            <a:r>
              <a:rPr lang="en-US" dirty="0"/>
              <a:t>Financial statement model</a:t>
            </a:r>
          </a:p>
          <a:p>
            <a:pPr lvl="1"/>
            <a:r>
              <a:rPr lang="en-US" dirty="0"/>
              <a:t>Projects a company’s future financial results</a:t>
            </a:r>
          </a:p>
          <a:p>
            <a:pPr lvl="1"/>
            <a:r>
              <a:rPr lang="en-US" dirty="0"/>
              <a:t>Core financial statements:</a:t>
            </a:r>
          </a:p>
          <a:p>
            <a:pPr lvl="2"/>
            <a:r>
              <a:rPr lang="en-US" dirty="0"/>
              <a:t>Income statement</a:t>
            </a:r>
          </a:p>
          <a:p>
            <a:pPr lvl="2"/>
            <a:r>
              <a:rPr lang="en-US" dirty="0"/>
              <a:t>Balance sheet</a:t>
            </a:r>
          </a:p>
          <a:p>
            <a:pPr lvl="2"/>
            <a:r>
              <a:rPr lang="en-US" dirty="0"/>
              <a:t>Cash flow statement</a:t>
            </a:r>
          </a:p>
          <a:p>
            <a:pPr marL="274320" lvl="1" indent="0">
              <a:buNone/>
            </a:pPr>
            <a:endParaRPr lang="en-US" dirty="0"/>
          </a:p>
        </p:txBody>
      </p:sp>
      <p:sp>
        <p:nvSpPr>
          <p:cNvPr id="7" name="Left Arrow 6"/>
          <p:cNvSpPr/>
          <p:nvPr/>
        </p:nvSpPr>
        <p:spPr>
          <a:xfrm>
            <a:off x="4343400" y="4572000"/>
            <a:ext cx="1524000" cy="685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Our focus</a:t>
            </a:r>
          </a:p>
        </p:txBody>
      </p:sp>
    </p:spTree>
    <p:extLst>
      <p:ext uri="{BB962C8B-B14F-4D97-AF65-F5344CB8AC3E}">
        <p14:creationId xmlns:p14="http://schemas.microsoft.com/office/powerpoint/2010/main" val="1220171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Collecting Financial Statements</a:t>
            </a:r>
          </a:p>
        </p:txBody>
      </p:sp>
      <p:sp>
        <p:nvSpPr>
          <p:cNvPr id="3" name="Content Placeholder 2"/>
          <p:cNvSpPr>
            <a:spLocks noGrp="1"/>
          </p:cNvSpPr>
          <p:nvPr>
            <p:ph idx="1"/>
          </p:nvPr>
        </p:nvSpPr>
        <p:spPr/>
        <p:txBody>
          <a:bodyPr/>
          <a:lstStyle/>
          <a:p>
            <a:r>
              <a:rPr lang="en-US" dirty="0"/>
              <a:t>Necessary to collect the following documents to start building your model:</a:t>
            </a:r>
          </a:p>
          <a:p>
            <a:pPr lvl="1"/>
            <a:r>
              <a:rPr lang="en-US" dirty="0"/>
              <a:t>Latest 10-K and 10-Q (</a:t>
            </a:r>
            <a:r>
              <a:rPr lang="en-US" dirty="0">
                <a:hlinkClick r:id="rId2"/>
              </a:rPr>
              <a:t>SEC EDGAR</a:t>
            </a:r>
            <a:r>
              <a:rPr lang="en-US" dirty="0"/>
              <a:t> – “Fast Search” and type company ticker)</a:t>
            </a:r>
          </a:p>
          <a:p>
            <a:pPr lvl="1"/>
            <a:r>
              <a:rPr lang="en-US" dirty="0"/>
              <a:t>Latest earnings press release and conference call transcript (company website or Bloomberg)</a:t>
            </a:r>
          </a:p>
          <a:p>
            <a:pPr lvl="1"/>
            <a:r>
              <a:rPr lang="en-US" dirty="0"/>
              <a:t>Analyst research (if available)</a:t>
            </a:r>
          </a:p>
          <a:p>
            <a:pPr lvl="1"/>
            <a:r>
              <a:rPr lang="en-US" dirty="0"/>
              <a:t>Industry research (if available)</a:t>
            </a:r>
          </a:p>
          <a:p>
            <a:pPr lvl="1"/>
            <a:r>
              <a:rPr lang="en-US" dirty="0"/>
              <a:t>EPS consensus estimates</a:t>
            </a:r>
          </a:p>
          <a:p>
            <a:pPr lvl="1"/>
            <a:r>
              <a:rPr lang="en-US" dirty="0"/>
              <a:t>6-12 months news run on the company</a:t>
            </a:r>
          </a:p>
          <a:p>
            <a:pPr lvl="1"/>
            <a:r>
              <a:rPr lang="en-US" dirty="0"/>
              <a:t>Other SEC filings, i.e. 8-Ks (if available, also on EDGAR)</a:t>
            </a:r>
          </a:p>
        </p:txBody>
      </p:sp>
    </p:spTree>
    <p:extLst>
      <p:ext uri="{BB962C8B-B14F-4D97-AF65-F5344CB8AC3E}">
        <p14:creationId xmlns:p14="http://schemas.microsoft.com/office/powerpoint/2010/main" val="3958985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Collecting Financial Statements</a:t>
            </a:r>
          </a:p>
        </p:txBody>
      </p:sp>
      <p:sp>
        <p:nvSpPr>
          <p:cNvPr id="3" name="Content Placeholder 2"/>
          <p:cNvSpPr>
            <a:spLocks noGrp="1"/>
          </p:cNvSpPr>
          <p:nvPr>
            <p:ph idx="1"/>
          </p:nvPr>
        </p:nvSpPr>
        <p:spPr/>
        <p:txBody>
          <a:bodyPr/>
          <a:lstStyle/>
          <a:p>
            <a:r>
              <a:rPr lang="en-US" dirty="0"/>
              <a:t>The latest 10-K</a:t>
            </a:r>
          </a:p>
          <a:p>
            <a:pPr lvl="1"/>
            <a:r>
              <a:rPr lang="en-US" dirty="0"/>
              <a:t>Public companies must file a 10-K with the SEC</a:t>
            </a:r>
          </a:p>
          <a:p>
            <a:pPr lvl="1"/>
            <a:r>
              <a:rPr lang="en-US" dirty="0"/>
              <a:t>Annual results must be audited (usually by one of the big 4 accounting firms) and are filed in a form called the 10-K</a:t>
            </a:r>
          </a:p>
          <a:p>
            <a:pPr lvl="1"/>
            <a:r>
              <a:rPr lang="en-US" dirty="0"/>
              <a:t>Income statement / Balance sheet / Cash flow statement / Statement of Equity</a:t>
            </a:r>
          </a:p>
          <a:p>
            <a:pPr lvl="1"/>
            <a:r>
              <a:rPr lang="en-US" dirty="0"/>
              <a:t>Financial footnotes and management discussion &amp; analysis (“MD&amp;A”) </a:t>
            </a:r>
          </a:p>
          <a:p>
            <a:pPr lvl="1"/>
            <a:endParaRPr lang="en-US" dirty="0"/>
          </a:p>
        </p:txBody>
      </p:sp>
    </p:spTree>
    <p:extLst>
      <p:ext uri="{BB962C8B-B14F-4D97-AF65-F5344CB8AC3E}">
        <p14:creationId xmlns:p14="http://schemas.microsoft.com/office/powerpoint/2010/main" val="1432462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Collecting Financial Statements</a:t>
            </a:r>
          </a:p>
        </p:txBody>
      </p:sp>
      <p:sp>
        <p:nvSpPr>
          <p:cNvPr id="3" name="Content Placeholder 2"/>
          <p:cNvSpPr>
            <a:spLocks noGrp="1"/>
          </p:cNvSpPr>
          <p:nvPr>
            <p:ph idx="1"/>
          </p:nvPr>
        </p:nvSpPr>
        <p:spPr/>
        <p:txBody>
          <a:bodyPr/>
          <a:lstStyle/>
          <a:p>
            <a:r>
              <a:rPr lang="en-US" dirty="0"/>
              <a:t>The latest 10-Q</a:t>
            </a:r>
          </a:p>
          <a:p>
            <a:pPr lvl="1"/>
            <a:r>
              <a:rPr lang="en-US" dirty="0"/>
              <a:t>Quarterly results are filed in a form called the 10-Q</a:t>
            </a:r>
          </a:p>
          <a:p>
            <a:pPr lvl="1"/>
            <a:r>
              <a:rPr lang="en-US" dirty="0"/>
              <a:t>Similar to 10-K, 10-Qs typically include Income Statement / Balance sheet / Cash flow statement / Statement of equity, some financial footnotes</a:t>
            </a:r>
          </a:p>
          <a:p>
            <a:pPr lvl="1"/>
            <a:r>
              <a:rPr lang="en-US" dirty="0"/>
              <a:t>Latest share count on front cover of 10-Q</a:t>
            </a:r>
          </a:p>
          <a:p>
            <a:pPr lvl="1"/>
            <a:r>
              <a:rPr lang="en-US" dirty="0"/>
              <a:t>Important differences:</a:t>
            </a:r>
          </a:p>
          <a:p>
            <a:pPr lvl="2"/>
            <a:r>
              <a:rPr lang="en-US" dirty="0"/>
              <a:t>Less detailed than 10-K</a:t>
            </a:r>
          </a:p>
          <a:p>
            <a:pPr lvl="2"/>
            <a:r>
              <a:rPr lang="en-US" dirty="0"/>
              <a:t>Statements may be abbreviated and presented in a non-standard format</a:t>
            </a:r>
          </a:p>
          <a:p>
            <a:pPr lvl="2"/>
            <a:r>
              <a:rPr lang="en-US" dirty="0"/>
              <a:t>Fewer footnotes disclosures; i.e. no info on options, debt schedules, convertibles</a:t>
            </a:r>
          </a:p>
          <a:p>
            <a:pPr lvl="2"/>
            <a:r>
              <a:rPr lang="en-US" dirty="0"/>
              <a:t>10-Qs are unaudited</a:t>
            </a:r>
          </a:p>
        </p:txBody>
      </p:sp>
    </p:spTree>
    <p:extLst>
      <p:ext uri="{BB962C8B-B14F-4D97-AF65-F5344CB8AC3E}">
        <p14:creationId xmlns:p14="http://schemas.microsoft.com/office/powerpoint/2010/main" val="1309744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Collecting Financial Statements</a:t>
            </a:r>
          </a:p>
        </p:txBody>
      </p:sp>
      <p:sp>
        <p:nvSpPr>
          <p:cNvPr id="3" name="Content Placeholder 2"/>
          <p:cNvSpPr>
            <a:spLocks noGrp="1"/>
          </p:cNvSpPr>
          <p:nvPr>
            <p:ph idx="1"/>
          </p:nvPr>
        </p:nvSpPr>
        <p:spPr>
          <a:xfrm>
            <a:off x="457200" y="1600200"/>
            <a:ext cx="6096000" cy="4876800"/>
          </a:xfrm>
        </p:spPr>
        <p:txBody>
          <a:bodyPr>
            <a:normAutofit fontScale="92500"/>
          </a:bodyPr>
          <a:lstStyle/>
          <a:p>
            <a:r>
              <a:rPr lang="en-US" sz="2000" dirty="0"/>
              <a:t>Press releases &amp; conference call transcripts</a:t>
            </a:r>
          </a:p>
          <a:p>
            <a:pPr lvl="1"/>
            <a:r>
              <a:rPr lang="en-US" sz="1800" dirty="0"/>
              <a:t>Companies issue press releases (PRs) containing financial results several weeks prior to filing 10-Qs and 10-Ks</a:t>
            </a:r>
          </a:p>
          <a:p>
            <a:pPr lvl="1"/>
            <a:r>
              <a:rPr lang="en-US" sz="1800" dirty="0"/>
              <a:t>PRs (and the conference calls usually held the same day to discuss the PR) tend to provide a non-standard, abbreviated presentation of results than the 10-K and 10-Q but are as important as the 10-Q or 10-K</a:t>
            </a:r>
          </a:p>
          <a:p>
            <a:pPr lvl="1"/>
            <a:r>
              <a:rPr lang="en-US" sz="1800" dirty="0"/>
              <a:t>Usually presented by the Investor Relations department and the CEO</a:t>
            </a:r>
          </a:p>
          <a:p>
            <a:pPr lvl="1"/>
            <a:r>
              <a:rPr lang="en-US" sz="1800" dirty="0"/>
              <a:t>Usually contain more info on GAAP to non-GAAP net income reconciliation and unusual charges – critical data points for analysts trying to tie historical data</a:t>
            </a:r>
          </a:p>
          <a:p>
            <a:pPr lvl="1"/>
            <a:r>
              <a:rPr lang="en-US" sz="1800" dirty="0"/>
              <a:t>PRs provide management future guidance and reiterate past guidance</a:t>
            </a:r>
          </a:p>
          <a:p>
            <a:pPr lvl="1"/>
            <a:r>
              <a:rPr lang="en-US" sz="1800" dirty="0"/>
              <a:t>PRs are important for timing – </a:t>
            </a:r>
            <a:r>
              <a:rPr lang="en-US" sz="1800" i="1" dirty="0"/>
              <a:t>ignore at your own peril</a:t>
            </a:r>
          </a:p>
        </p:txBody>
      </p:sp>
      <p:sp>
        <p:nvSpPr>
          <p:cNvPr id="4" name="TextBox 3"/>
          <p:cNvSpPr txBox="1"/>
          <p:nvPr/>
        </p:nvSpPr>
        <p:spPr>
          <a:xfrm>
            <a:off x="6934200" y="1730276"/>
            <a:ext cx="1752600"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i="1" dirty="0"/>
              <a:t>Finding PRs and transcripts:</a:t>
            </a:r>
          </a:p>
          <a:p>
            <a:pPr marL="285750" indent="-285750">
              <a:buFont typeface="Arial" panose="020B0604020202020204" pitchFamily="34" charset="0"/>
              <a:buChar char="•"/>
            </a:pPr>
            <a:r>
              <a:rPr lang="en-US" dirty="0"/>
              <a:t>Company website</a:t>
            </a:r>
          </a:p>
          <a:p>
            <a:pPr marL="285750" indent="-285750">
              <a:buFont typeface="Arial" panose="020B0604020202020204" pitchFamily="34" charset="0"/>
              <a:buChar char="•"/>
            </a:pPr>
            <a:r>
              <a:rPr lang="en-US" dirty="0"/>
              <a:t>EDGAR</a:t>
            </a:r>
          </a:p>
          <a:p>
            <a:pPr marL="285750" indent="-285750">
              <a:buFont typeface="Arial" panose="020B0604020202020204" pitchFamily="34" charset="0"/>
              <a:buChar char="•"/>
            </a:pPr>
            <a:r>
              <a:rPr lang="en-US" dirty="0"/>
              <a:t>Bloomberg</a:t>
            </a:r>
          </a:p>
          <a:p>
            <a:pPr marL="285750" indent="-285750">
              <a:buFont typeface="Arial" panose="020B0604020202020204" pitchFamily="34" charset="0"/>
              <a:buChar char="•"/>
            </a:pPr>
            <a:r>
              <a:rPr lang="en-US" dirty="0" err="1"/>
              <a:t>CapitalIQ</a:t>
            </a:r>
            <a:endParaRPr lang="en-US" dirty="0"/>
          </a:p>
          <a:p>
            <a:endParaRPr lang="en-US" dirty="0"/>
          </a:p>
        </p:txBody>
      </p:sp>
    </p:spTree>
    <p:extLst>
      <p:ext uri="{BB962C8B-B14F-4D97-AF65-F5344CB8AC3E}">
        <p14:creationId xmlns:p14="http://schemas.microsoft.com/office/powerpoint/2010/main" val="1675955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Collecting Financial Statements</a:t>
            </a:r>
          </a:p>
        </p:txBody>
      </p:sp>
      <p:sp>
        <p:nvSpPr>
          <p:cNvPr id="3" name="Content Placeholder 2"/>
          <p:cNvSpPr>
            <a:spLocks noGrp="1"/>
          </p:cNvSpPr>
          <p:nvPr>
            <p:ph idx="1"/>
          </p:nvPr>
        </p:nvSpPr>
        <p:spPr/>
        <p:txBody>
          <a:bodyPr>
            <a:normAutofit lnSpcReduction="10000"/>
          </a:bodyPr>
          <a:lstStyle/>
          <a:p>
            <a:r>
              <a:rPr lang="en-US" sz="2000" dirty="0"/>
              <a:t>Equity research reports</a:t>
            </a:r>
          </a:p>
          <a:p>
            <a:pPr marL="274320" lvl="1" indent="0">
              <a:buNone/>
            </a:pPr>
            <a:r>
              <a:rPr lang="en-US" sz="1800" dirty="0"/>
              <a:t>Equity research analysts cover a small group of companies (~10-20) in a specific industry and publish research reports (and models) about them </a:t>
            </a:r>
          </a:p>
          <a:p>
            <a:r>
              <a:rPr lang="en-US" sz="2000" dirty="0"/>
              <a:t>Finding the right report</a:t>
            </a:r>
          </a:p>
          <a:p>
            <a:pPr lvl="1"/>
            <a:r>
              <a:rPr lang="en-US" sz="1800" dirty="0"/>
              <a:t>Understanding nonrecurring items and reconciling historical data: Use timely reports – research analysts almost always update their financial models within days of a company’s PR; </a:t>
            </a:r>
            <a:r>
              <a:rPr lang="en-US" sz="1800" i="1" dirty="0"/>
              <a:t>don’t use reports prior to the latest quarter</a:t>
            </a:r>
          </a:p>
          <a:p>
            <a:pPr lvl="1"/>
            <a:r>
              <a:rPr lang="en-US" sz="1800" dirty="0"/>
              <a:t>Understanding the industry: initiating coverage reports typically have the most detail that will include full earnings models and helpful investment rationale</a:t>
            </a:r>
          </a:p>
          <a:p>
            <a:r>
              <a:rPr lang="en-US" sz="2000" dirty="0"/>
              <a:t>Examples can be found on Bloomberg, Thomson, </a:t>
            </a:r>
            <a:r>
              <a:rPr lang="en-US" sz="2000" dirty="0" err="1"/>
              <a:t>CapitalIQ</a:t>
            </a:r>
            <a:r>
              <a:rPr lang="en-US" sz="2000" dirty="0"/>
              <a:t>; often contain hard-to-find details about past results and important issues facing the company</a:t>
            </a:r>
          </a:p>
          <a:p>
            <a:r>
              <a:rPr lang="en-US" sz="2000" dirty="0"/>
              <a:t>Equity research reports are used by investment bankers to getup to speed quickly on a company</a:t>
            </a:r>
          </a:p>
          <a:p>
            <a:endParaRPr lang="en-US" sz="2200" dirty="0"/>
          </a:p>
        </p:txBody>
      </p:sp>
    </p:spTree>
    <p:extLst>
      <p:ext uri="{BB962C8B-B14F-4D97-AF65-F5344CB8AC3E}">
        <p14:creationId xmlns:p14="http://schemas.microsoft.com/office/powerpoint/2010/main" val="4291450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Company Background – Target </a:t>
            </a:r>
          </a:p>
        </p:txBody>
      </p:sp>
      <p:sp>
        <p:nvSpPr>
          <p:cNvPr id="3" name="Content Placeholder 2"/>
          <p:cNvSpPr>
            <a:spLocks noGrp="1"/>
          </p:cNvSpPr>
          <p:nvPr>
            <p:ph idx="1"/>
          </p:nvPr>
        </p:nvSpPr>
        <p:spPr>
          <a:xfrm>
            <a:off x="457200" y="1600200"/>
            <a:ext cx="5105400" cy="4876800"/>
          </a:xfrm>
        </p:spPr>
        <p:txBody>
          <a:bodyPr>
            <a:normAutofit/>
          </a:bodyPr>
          <a:lstStyle/>
          <a:p>
            <a:pPr marL="0" indent="0">
              <a:buNone/>
            </a:pPr>
            <a:r>
              <a:rPr lang="en-US" sz="2000" dirty="0"/>
              <a:t>Target</a:t>
            </a:r>
          </a:p>
          <a:p>
            <a:pPr lvl="1"/>
            <a:r>
              <a:rPr lang="en-US" sz="1600" dirty="0"/>
              <a:t>TGT: NYSE</a:t>
            </a:r>
          </a:p>
          <a:p>
            <a:pPr lvl="1"/>
            <a:r>
              <a:rPr lang="en-US" sz="1600" dirty="0"/>
              <a:t>HQ: Minneapolis, MN</a:t>
            </a:r>
          </a:p>
          <a:p>
            <a:pPr lvl="1"/>
            <a:r>
              <a:rPr lang="en-US" sz="1600" dirty="0"/>
              <a:t>Founded 1902</a:t>
            </a:r>
          </a:p>
          <a:p>
            <a:pPr lvl="1"/>
            <a:r>
              <a:rPr lang="en-US" sz="1600" dirty="0"/>
              <a:t>Employees: ~361,000</a:t>
            </a:r>
          </a:p>
          <a:p>
            <a:pPr lvl="1"/>
            <a:r>
              <a:rPr lang="en-US" sz="1600" dirty="0"/>
              <a:t>Over 1700 stores in 49 states </a:t>
            </a:r>
          </a:p>
          <a:p>
            <a:pPr lvl="1"/>
            <a:r>
              <a:rPr lang="en-US" sz="1600" dirty="0"/>
              <a:t>3 distribution centers in Canada</a:t>
            </a:r>
          </a:p>
        </p:txBody>
      </p:sp>
      <p:pic>
        <p:nvPicPr>
          <p:cNvPr id="204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4738" y="1654175"/>
            <a:ext cx="1143000"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AutoShape 4" descr="data:image/gif;base64,R0lGODlhAQABAIAAAP///////yH5BAEKAAEALAAAAAABAAEAAAICTAEAOw=="/>
          <p:cNvSpPr>
            <a:spLocks noChangeAspect="1" noChangeArrowheads="1"/>
          </p:cNvSpPr>
          <p:nvPr/>
        </p:nvSpPr>
        <p:spPr bwMode="auto">
          <a:xfrm>
            <a:off x="3948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5" descr="data:image/gif;base64,R0lGODlhAQABAIAAAP///////yH5BAEKAAEALAAAAAABAAEAAAICTAEAOw=="/>
          <p:cNvSpPr>
            <a:spLocks noChangeAspect="1" noChangeArrowheads="1"/>
          </p:cNvSpPr>
          <p:nvPr/>
        </p:nvSpPr>
        <p:spPr bwMode="auto">
          <a:xfrm>
            <a:off x="4456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6" descr="data:image/gif;base64,R0lGODlhAQABAIAAAP///////yH5BAEKAAEALAAAAAABAAEAAAICTAEAOw=="/>
          <p:cNvSpPr>
            <a:spLocks noChangeAspect="1" noChangeArrowheads="1"/>
          </p:cNvSpPr>
          <p:nvPr/>
        </p:nvSpPr>
        <p:spPr bwMode="auto">
          <a:xfrm>
            <a:off x="4964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7" descr="data:image/gif;base64,R0lGODlhAQABAIAAAP///////yH5BAEKAAEALAAAAAABAAEAAAICTAEAOw=="/>
          <p:cNvSpPr>
            <a:spLocks noChangeAspect="1" noChangeArrowheads="1"/>
          </p:cNvSpPr>
          <p:nvPr/>
        </p:nvSpPr>
        <p:spPr bwMode="auto">
          <a:xfrm>
            <a:off x="5472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8" descr="data:image/gif;base64,R0lGODlhAQABAIAAAP///////yH5BAEKAAEALAAAAAABAAEAAAICTAEAOw=="/>
          <p:cNvSpPr>
            <a:spLocks noChangeAspect="1" noChangeArrowheads="1"/>
          </p:cNvSpPr>
          <p:nvPr/>
        </p:nvSpPr>
        <p:spPr bwMode="auto">
          <a:xfrm>
            <a:off x="5980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9" descr="data:image/gif;base64,R0lGODlhAQABAIAAAP///////yH5BAEKAAEALAAAAAABAAEAAAICTAEAOw=="/>
          <p:cNvSpPr>
            <a:spLocks noChangeAspect="1" noChangeArrowheads="1"/>
          </p:cNvSpPr>
          <p:nvPr/>
        </p:nvSpPr>
        <p:spPr bwMode="auto">
          <a:xfrm>
            <a:off x="6488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0" descr="data:image/gif;base64,R0lGODlhAQABAIAAAP///////yH5BAEKAAEALAAAAAABAAEAAAICTAEAOw=="/>
          <p:cNvSpPr>
            <a:spLocks noChangeAspect="1" noChangeArrowheads="1"/>
          </p:cNvSpPr>
          <p:nvPr/>
        </p:nvSpPr>
        <p:spPr bwMode="auto">
          <a:xfrm>
            <a:off x="6996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11" descr="data:image/gif;base64,R0lGODlhAQABAIAAAP///////yH5BAEKAAEALAAAAAABAAEAAAICTAEAOw=="/>
          <p:cNvSpPr>
            <a:spLocks noChangeAspect="1" noChangeArrowheads="1"/>
          </p:cNvSpPr>
          <p:nvPr/>
        </p:nvSpPr>
        <p:spPr bwMode="auto">
          <a:xfrm>
            <a:off x="7504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12" descr="data:image/gif;base64,R0lGODlhAQABAIAAAP///////yH5BAEKAAEALAAAAAABAAEAAAICTAEAOw=="/>
          <p:cNvSpPr>
            <a:spLocks noChangeAspect="1" noChangeArrowheads="1"/>
          </p:cNvSpPr>
          <p:nvPr/>
        </p:nvSpPr>
        <p:spPr bwMode="auto">
          <a:xfrm>
            <a:off x="8012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13" descr="data:image/gif;base64,R0lGODlhAQABAIAAAP///////yH5BAEKAAEALAAAAAABAAEAAAICTAEAOw=="/>
          <p:cNvSpPr>
            <a:spLocks noChangeAspect="1" noChangeArrowheads="1"/>
          </p:cNvSpPr>
          <p:nvPr/>
        </p:nvSpPr>
        <p:spPr bwMode="auto">
          <a:xfrm>
            <a:off x="8520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AutoShape 14" descr="data:image/gif;base64,R0lGODlhAQABAIAAAP///////yH5BAEKAAEALAAAAAABAAEAAAICTAEAOw=="/>
          <p:cNvSpPr>
            <a:spLocks noChangeAspect="1" noChangeArrowheads="1"/>
          </p:cNvSpPr>
          <p:nvPr/>
        </p:nvSpPr>
        <p:spPr bwMode="auto">
          <a:xfrm>
            <a:off x="9028113" y="1654175"/>
            <a:ext cx="476250"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64"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13" y="3886200"/>
            <a:ext cx="4552950" cy="2638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TextBox 20"/>
          <p:cNvSpPr txBox="1"/>
          <p:nvPr/>
        </p:nvSpPr>
        <p:spPr>
          <a:xfrm>
            <a:off x="5099050" y="1654175"/>
            <a:ext cx="3794125" cy="4016484"/>
          </a:xfrm>
          <a:prstGeom prst="rect">
            <a:avLst/>
          </a:prstGeom>
          <a:noFill/>
        </p:spPr>
        <p:txBody>
          <a:bodyPr wrap="square" rtlCol="0">
            <a:spAutoFit/>
          </a:bodyPr>
          <a:lstStyle/>
          <a:p>
            <a:pPr marL="285750" indent="-285750">
              <a:buFont typeface="Arial" panose="020B0604020202020204" pitchFamily="34" charset="0"/>
              <a:buChar char="•"/>
            </a:pPr>
            <a:r>
              <a:rPr lang="en-US" sz="2000" dirty="0"/>
              <a:t>Target sells an assortment of general merchandise and food in its stores. The company has three operating segments: U.S. Retail, U.S. Credit Card and Canadian. </a:t>
            </a:r>
          </a:p>
          <a:p>
            <a:pPr marL="285750" indent="-285750">
              <a:buFont typeface="Arial" panose="020B0604020202020204" pitchFamily="34" charset="0"/>
              <a:buChar char="•"/>
            </a:pPr>
            <a:r>
              <a:rPr lang="en-US" sz="2000" dirty="0"/>
              <a:t>The general assortment of merchandize includes everyday  essentials at discounted prices. The company is known for its  up-to-date, fashion wares. </a:t>
            </a:r>
          </a:p>
          <a:p>
            <a:endParaRPr lang="en-US" sz="1500" i="1" dirty="0">
              <a:solidFill>
                <a:srgbClr val="FF0000"/>
              </a:solidFill>
            </a:endParaRPr>
          </a:p>
        </p:txBody>
      </p:sp>
      <p:sp>
        <p:nvSpPr>
          <p:cNvPr id="22" name="TextBox 21"/>
          <p:cNvSpPr txBox="1"/>
          <p:nvPr/>
        </p:nvSpPr>
        <p:spPr>
          <a:xfrm>
            <a:off x="304800" y="6524625"/>
            <a:ext cx="3276600" cy="307777"/>
          </a:xfrm>
          <a:prstGeom prst="rect">
            <a:avLst/>
          </a:prstGeom>
          <a:noFill/>
        </p:spPr>
        <p:txBody>
          <a:bodyPr wrap="square" rtlCol="0">
            <a:spAutoFit/>
          </a:bodyPr>
          <a:lstStyle/>
          <a:p>
            <a:r>
              <a:rPr lang="en-US" sz="1400" i="1" dirty="0"/>
              <a:t>Source: Data as of 1/10/14</a:t>
            </a:r>
          </a:p>
        </p:txBody>
      </p:sp>
    </p:spTree>
    <p:extLst>
      <p:ext uri="{BB962C8B-B14F-4D97-AF65-F5344CB8AC3E}">
        <p14:creationId xmlns:p14="http://schemas.microsoft.com/office/powerpoint/2010/main" val="608050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Ratios</a:t>
            </a:r>
          </a:p>
        </p:txBody>
      </p:sp>
      <p:sp>
        <p:nvSpPr>
          <p:cNvPr id="3" name="Content Placeholder 2"/>
          <p:cNvSpPr>
            <a:spLocks noGrp="1"/>
          </p:cNvSpPr>
          <p:nvPr>
            <p:ph idx="1"/>
          </p:nvPr>
        </p:nvSpPr>
        <p:spPr/>
        <p:txBody>
          <a:bodyPr>
            <a:normAutofit/>
          </a:bodyPr>
          <a:lstStyle/>
          <a:p>
            <a:r>
              <a:rPr lang="en-US" dirty="0"/>
              <a:t>Activity ratios</a:t>
            </a:r>
          </a:p>
          <a:p>
            <a:r>
              <a:rPr lang="en-US" dirty="0"/>
              <a:t>Profitability Ratios</a:t>
            </a:r>
          </a:p>
          <a:p>
            <a:r>
              <a:rPr lang="en-US" dirty="0"/>
              <a:t>Liquidity Ratios</a:t>
            </a:r>
          </a:p>
          <a:p>
            <a:r>
              <a:rPr lang="en-US" dirty="0"/>
              <a:t>Solvency Ratios</a:t>
            </a:r>
          </a:p>
          <a:p>
            <a:r>
              <a:rPr lang="en-US" dirty="0"/>
              <a:t>Supplemental Ratios</a:t>
            </a:r>
          </a:p>
          <a:p>
            <a:endParaRPr lang="en-US" dirty="0"/>
          </a:p>
        </p:txBody>
      </p:sp>
    </p:spTree>
    <p:extLst>
      <p:ext uri="{BB962C8B-B14F-4D97-AF65-F5344CB8AC3E}">
        <p14:creationId xmlns:p14="http://schemas.microsoft.com/office/powerpoint/2010/main" val="3382375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normAutofit lnSpcReduction="10000"/>
          </a:bodyPr>
          <a:lstStyle/>
          <a:p>
            <a:r>
              <a:rPr lang="en-US" dirty="0"/>
              <a:t>Activity ratios measure how efficiently a company utilizes assets</a:t>
            </a:r>
          </a:p>
          <a:p>
            <a:pPr lvl="1"/>
            <a:r>
              <a:rPr lang="en-US" dirty="0"/>
              <a:t>Generally the numerator is from the IS and the denominator is from the BS</a:t>
            </a:r>
          </a:p>
          <a:p>
            <a:pPr lvl="1"/>
            <a:r>
              <a:rPr lang="en-US" dirty="0"/>
              <a:t>Since the IS measures what happened </a:t>
            </a:r>
            <a:r>
              <a:rPr lang="en-US" i="1" dirty="0"/>
              <a:t>during</a:t>
            </a:r>
            <a:r>
              <a:rPr lang="en-US" dirty="0"/>
              <a:t> the period whereas the BS shows a snapshot (usually EOP), average BS data is used for consistency</a:t>
            </a:r>
          </a:p>
          <a:p>
            <a:r>
              <a:rPr lang="en-US" dirty="0"/>
              <a:t>Inventory turnover and DOH</a:t>
            </a:r>
          </a:p>
          <a:p>
            <a:pPr lvl="1"/>
            <a:r>
              <a:rPr lang="en-US" dirty="0"/>
              <a:t>Inventory turnover indicates the resources tied up in inventory (the carrying costs) and is used to indicate inventory management effectiveness</a:t>
            </a:r>
          </a:p>
          <a:p>
            <a:pPr lvl="1"/>
            <a:r>
              <a:rPr lang="en-US" dirty="0"/>
              <a:t>A higher inventory turnover ratio implies a shorter period that inventory is held, leading to a lower DOH</a:t>
            </a:r>
          </a:p>
          <a:p>
            <a:pPr lvl="1"/>
            <a:r>
              <a:rPr lang="en-US" dirty="0"/>
              <a:t>Both should be benchmarked against industry norms</a:t>
            </a:r>
          </a:p>
        </p:txBody>
      </p:sp>
    </p:spTree>
    <p:extLst>
      <p:ext uri="{BB962C8B-B14F-4D97-AF65-F5344CB8AC3E}">
        <p14:creationId xmlns:p14="http://schemas.microsoft.com/office/powerpoint/2010/main" val="3142540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lstStyle/>
          <a:p>
            <a:r>
              <a:rPr lang="en-US" dirty="0"/>
              <a:t>Inventory turnover and DOH continued</a:t>
            </a:r>
          </a:p>
          <a:p>
            <a:pPr lvl="1"/>
            <a:r>
              <a:rPr lang="en-US" dirty="0"/>
              <a:t>A high turnover ratio relative to industry norms might indicate highly effective inventory </a:t>
            </a:r>
            <a:r>
              <a:rPr lang="en-US" dirty="0" err="1"/>
              <a:t>mgmt</a:t>
            </a:r>
            <a:endParaRPr lang="en-US" dirty="0"/>
          </a:p>
          <a:p>
            <a:pPr lvl="1"/>
            <a:r>
              <a:rPr lang="en-US" dirty="0"/>
              <a:t>Alternatively, a high turnover ratio coupled with a low DOH could mean the company doesn’t carry adequate inventory, so shortages could potentially hurt revenue</a:t>
            </a:r>
          </a:p>
          <a:p>
            <a:pPr lvl="1"/>
            <a:r>
              <a:rPr lang="en-US" dirty="0"/>
              <a:t>Should measure revenue growth vs the industry revenue growth</a:t>
            </a:r>
          </a:p>
          <a:p>
            <a:pPr lvl="2"/>
            <a:r>
              <a:rPr lang="en-US" dirty="0"/>
              <a:t>Revenue growth at or above the industry’s growth could indicate greater inventory </a:t>
            </a:r>
            <a:r>
              <a:rPr lang="en-US" dirty="0" err="1"/>
              <a:t>mgmt</a:t>
            </a:r>
            <a:r>
              <a:rPr lang="en-US" dirty="0"/>
              <a:t>; if it’s below industry with a high turnover, could mean inadequate inventory levels</a:t>
            </a:r>
          </a:p>
          <a:p>
            <a:pPr lvl="1"/>
            <a:r>
              <a:rPr lang="en-US" dirty="0"/>
              <a:t>Low turnover and high DOH relative to the rest of the industry could be an indicator of slow moving inventory, may be to technological obsolescence or change in fashion</a:t>
            </a:r>
          </a:p>
        </p:txBody>
      </p:sp>
    </p:spTree>
    <p:extLst>
      <p:ext uri="{BB962C8B-B14F-4D97-AF65-F5344CB8AC3E}">
        <p14:creationId xmlns:p14="http://schemas.microsoft.com/office/powerpoint/2010/main" val="1578593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lstStyle/>
          <a:p>
            <a:r>
              <a:rPr lang="en-US" dirty="0"/>
              <a:t>Receivables Turnover and DSO</a:t>
            </a:r>
          </a:p>
          <a:p>
            <a:pPr lvl="1"/>
            <a:r>
              <a:rPr lang="en-US" dirty="0"/>
              <a:t>DSO represents the elapsed time between a sale and cash collection – shows how fast the company collects cash from customers to whom it offers credit</a:t>
            </a:r>
          </a:p>
          <a:p>
            <a:pPr lvl="1"/>
            <a:r>
              <a:rPr lang="en-US" dirty="0"/>
              <a:t>A high turnover and low DSO might mean highly efficient credit and collection</a:t>
            </a:r>
          </a:p>
          <a:p>
            <a:pPr lvl="2"/>
            <a:r>
              <a:rPr lang="en-US" dirty="0"/>
              <a:t>Could also mean credit policies are too stringent, leading to lost sales to competitors</a:t>
            </a:r>
          </a:p>
          <a:p>
            <a:pPr lvl="1"/>
            <a:r>
              <a:rPr lang="en-US" dirty="0"/>
              <a:t>A low turnover could mean inefficient credit and collection</a:t>
            </a:r>
          </a:p>
        </p:txBody>
      </p:sp>
    </p:spTree>
    <p:extLst>
      <p:ext uri="{BB962C8B-B14F-4D97-AF65-F5344CB8AC3E}">
        <p14:creationId xmlns:p14="http://schemas.microsoft.com/office/powerpoint/2010/main" val="2338272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lstStyle/>
          <a:p>
            <a:r>
              <a:rPr lang="en-US" dirty="0"/>
              <a:t>Payables Turnover and # Days Payables</a:t>
            </a:r>
          </a:p>
          <a:p>
            <a:pPr lvl="1"/>
            <a:r>
              <a:rPr lang="en-US" dirty="0"/>
              <a:t># days of payables reflects the average number of days the company takes to pay its suppliers</a:t>
            </a:r>
          </a:p>
          <a:p>
            <a:pPr lvl="1"/>
            <a:r>
              <a:rPr lang="en-US" dirty="0"/>
              <a:t>Turnover measures how many times per year the company theoretically pays off all its creditors</a:t>
            </a:r>
          </a:p>
          <a:p>
            <a:pPr lvl="1"/>
            <a:r>
              <a:rPr lang="en-US" dirty="0"/>
              <a:t>A high turnover and low days payable relative to the industry could indicate the company is not making full use of available credit facilities; or could result from the company taking advantage of early payment discounts</a:t>
            </a:r>
          </a:p>
          <a:p>
            <a:pPr lvl="1"/>
            <a:r>
              <a:rPr lang="en-US" dirty="0"/>
              <a:t>Low turnover and high days payable could mean trouble making payments on time or exploitation of lenient supplier terms</a:t>
            </a:r>
          </a:p>
        </p:txBody>
      </p:sp>
    </p:spTree>
    <p:extLst>
      <p:ext uri="{BB962C8B-B14F-4D97-AF65-F5344CB8AC3E}">
        <p14:creationId xmlns:p14="http://schemas.microsoft.com/office/powerpoint/2010/main" val="1495355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lstStyle/>
          <a:p>
            <a:r>
              <a:rPr lang="en-US" dirty="0"/>
              <a:t>Fixed asset turnover</a:t>
            </a:r>
          </a:p>
          <a:p>
            <a:pPr lvl="1"/>
            <a:r>
              <a:rPr lang="en-US" dirty="0"/>
              <a:t>Measures how efficiently the company generates revenues form its investments in fixed assets</a:t>
            </a:r>
          </a:p>
          <a:p>
            <a:pPr lvl="1"/>
            <a:r>
              <a:rPr lang="en-US" dirty="0"/>
              <a:t>A higher fixed asset turnover ratio indicates more efficient use of fixed assets in generating revenue</a:t>
            </a:r>
          </a:p>
          <a:p>
            <a:pPr lvl="1"/>
            <a:r>
              <a:rPr lang="en-US" dirty="0"/>
              <a:t>A low ratio can indicate inefficiency, a capital-intensive business environment, or a new business not yet operating at full capacity</a:t>
            </a:r>
          </a:p>
          <a:p>
            <a:pPr lvl="2"/>
            <a:r>
              <a:rPr lang="en-US" dirty="0"/>
              <a:t>Could be lower if the assets are newer (less depreciated)</a:t>
            </a:r>
          </a:p>
          <a:p>
            <a:r>
              <a:rPr lang="en-US" dirty="0"/>
              <a:t>Total asset turnover</a:t>
            </a:r>
          </a:p>
          <a:p>
            <a:pPr lvl="1"/>
            <a:r>
              <a:rPr lang="en-US" dirty="0"/>
              <a:t>Measures the company’s overall ability to generate revenues with a given level of assets</a:t>
            </a:r>
          </a:p>
          <a:p>
            <a:pPr lvl="1"/>
            <a:r>
              <a:rPr lang="en-US" dirty="0"/>
              <a:t>A low asset turnover can indicate inefficiency or the relative capital intensity of the business</a:t>
            </a:r>
          </a:p>
        </p:txBody>
      </p:sp>
    </p:spTree>
    <p:extLst>
      <p:ext uri="{BB962C8B-B14F-4D97-AF65-F5344CB8AC3E}">
        <p14:creationId xmlns:p14="http://schemas.microsoft.com/office/powerpoint/2010/main" val="3907344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lstStyle/>
          <a:p>
            <a:r>
              <a:rPr lang="en-US" dirty="0"/>
              <a:t>Liquidity ratios</a:t>
            </a:r>
          </a:p>
          <a:p>
            <a:pPr lvl="1"/>
            <a:r>
              <a:rPr lang="en-US" dirty="0"/>
              <a:t>Focuses on cash flows, measures a company’s ability to meet it’s short-term obligations – how quickly assets are converted into cash</a:t>
            </a:r>
          </a:p>
          <a:p>
            <a:r>
              <a:rPr lang="en-US" dirty="0"/>
              <a:t>Current ratio</a:t>
            </a:r>
          </a:p>
          <a:p>
            <a:pPr lvl="1"/>
            <a:r>
              <a:rPr lang="en-US" dirty="0"/>
              <a:t>A higher ratio indicates a higher level of liquidity; a ratio of 1.0 means the book value of the current assets exactly equals the book value of its current liabilities</a:t>
            </a:r>
          </a:p>
          <a:p>
            <a:pPr lvl="1"/>
            <a:r>
              <a:rPr lang="en-US" dirty="0"/>
              <a:t>A lower ratio indicates less liquidity, implying greater reliance on operating cash flow and outside financing to meet obligations</a:t>
            </a:r>
          </a:p>
          <a:p>
            <a:r>
              <a:rPr lang="en-US" dirty="0"/>
              <a:t>Quick ratio</a:t>
            </a:r>
          </a:p>
          <a:p>
            <a:pPr lvl="1"/>
            <a:r>
              <a:rPr lang="en-US" dirty="0"/>
              <a:t>Reflects that certain current assets represent costs of the current period that have been paid in advance and cannot usually be converted back to cash</a:t>
            </a:r>
          </a:p>
          <a:p>
            <a:pPr lvl="1"/>
            <a:endParaRPr lang="en-US" dirty="0"/>
          </a:p>
          <a:p>
            <a:endParaRPr lang="en-US" dirty="0"/>
          </a:p>
        </p:txBody>
      </p:sp>
    </p:spTree>
    <p:extLst>
      <p:ext uri="{BB962C8B-B14F-4D97-AF65-F5344CB8AC3E}">
        <p14:creationId xmlns:p14="http://schemas.microsoft.com/office/powerpoint/2010/main" val="3017219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lstStyle/>
          <a:p>
            <a:r>
              <a:rPr lang="en-US" dirty="0"/>
              <a:t>Cash Ratio</a:t>
            </a:r>
          </a:p>
          <a:p>
            <a:pPr lvl="1"/>
            <a:r>
              <a:rPr lang="en-US" dirty="0"/>
              <a:t>Represents a reliable measure of an entity’s liquidity in a crisis situation</a:t>
            </a:r>
          </a:p>
          <a:p>
            <a:r>
              <a:rPr lang="en-US" dirty="0"/>
              <a:t>Cash Conversion Cycle (CCC)</a:t>
            </a:r>
          </a:p>
          <a:p>
            <a:pPr lvl="1"/>
            <a:r>
              <a:rPr lang="en-US" dirty="0"/>
              <a:t>Indicates the amount of time that elapses from the point when a company invests in working capital until the point at which the company collects cash</a:t>
            </a:r>
          </a:p>
          <a:p>
            <a:pPr lvl="1"/>
            <a:r>
              <a:rPr lang="en-US" dirty="0"/>
              <a:t>A shorter cash conversion cycle indicates greater liquidity</a:t>
            </a:r>
          </a:p>
          <a:p>
            <a:pPr lvl="1"/>
            <a:r>
              <a:rPr lang="en-US" dirty="0"/>
              <a:t>A longer cash conversion cycle indicates lower liquidity, must finance its inventory and AR for longer periods of time</a:t>
            </a:r>
          </a:p>
        </p:txBody>
      </p:sp>
    </p:spTree>
    <p:extLst>
      <p:ext uri="{BB962C8B-B14F-4D97-AF65-F5344CB8AC3E}">
        <p14:creationId xmlns:p14="http://schemas.microsoft.com/office/powerpoint/2010/main" val="833186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lstStyle/>
          <a:p>
            <a:r>
              <a:rPr lang="en-US" dirty="0"/>
              <a:t>Solvency Ratio</a:t>
            </a:r>
          </a:p>
          <a:p>
            <a:pPr lvl="1"/>
            <a:r>
              <a:rPr lang="en-US" dirty="0"/>
              <a:t>Solvency refers to a company’s ability to fulfill long-term debt obligations</a:t>
            </a:r>
          </a:p>
          <a:p>
            <a:r>
              <a:rPr lang="en-US" dirty="0"/>
              <a:t>Debt-to-Assets</a:t>
            </a:r>
          </a:p>
          <a:p>
            <a:pPr lvl="1"/>
            <a:r>
              <a:rPr lang="en-US" dirty="0"/>
              <a:t>Higher debt means higher financial risk and weaker solvency</a:t>
            </a:r>
          </a:p>
          <a:p>
            <a:r>
              <a:rPr lang="en-US" dirty="0"/>
              <a:t>Debt-to-Capital</a:t>
            </a:r>
          </a:p>
          <a:p>
            <a:pPr lvl="1"/>
            <a:r>
              <a:rPr lang="en-US" dirty="0"/>
              <a:t>A higher ratio generally means higher financial risk and weaker solvency</a:t>
            </a:r>
          </a:p>
          <a:p>
            <a:r>
              <a:rPr lang="en-US" dirty="0"/>
              <a:t>Debt-to-Equity</a:t>
            </a:r>
          </a:p>
          <a:p>
            <a:pPr lvl="1"/>
            <a:r>
              <a:rPr lang="en-US" dirty="0"/>
              <a:t>A ratio of 1.0 means equal parts of both (and a debt-to-capital ratio of 0.5)</a:t>
            </a:r>
          </a:p>
        </p:txBody>
      </p:sp>
    </p:spTree>
    <p:extLst>
      <p:ext uri="{BB962C8B-B14F-4D97-AF65-F5344CB8AC3E}">
        <p14:creationId xmlns:p14="http://schemas.microsoft.com/office/powerpoint/2010/main" val="3608728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	</a:t>
            </a:r>
          </a:p>
        </p:txBody>
      </p:sp>
      <p:sp>
        <p:nvSpPr>
          <p:cNvPr id="3" name="Content Placeholder 2"/>
          <p:cNvSpPr>
            <a:spLocks noGrp="1"/>
          </p:cNvSpPr>
          <p:nvPr>
            <p:ph idx="1"/>
          </p:nvPr>
        </p:nvSpPr>
        <p:spPr/>
        <p:txBody>
          <a:bodyPr/>
          <a:lstStyle/>
          <a:p>
            <a:r>
              <a:rPr lang="en-US" dirty="0"/>
              <a:t>Financial leverage ratio	</a:t>
            </a:r>
          </a:p>
          <a:p>
            <a:pPr lvl="1"/>
            <a:r>
              <a:rPr lang="en-US" dirty="0"/>
              <a:t>Measures the amount of total assets supported for each one money unit of equity</a:t>
            </a:r>
          </a:p>
          <a:p>
            <a:pPr lvl="1"/>
            <a:r>
              <a:rPr lang="en-US" dirty="0"/>
              <a:t>Higher the ratio, the more leveraged the company is in the sense of using debt and other liabilities to finance assets</a:t>
            </a:r>
          </a:p>
          <a:p>
            <a:pPr lvl="1"/>
            <a:r>
              <a:rPr lang="en-US" dirty="0"/>
              <a:t>Used in DuPont decomposition of return on equity</a:t>
            </a:r>
          </a:p>
          <a:p>
            <a:r>
              <a:rPr lang="en-US" dirty="0"/>
              <a:t>Interest Coverage</a:t>
            </a:r>
          </a:p>
          <a:p>
            <a:pPr lvl="1"/>
            <a:r>
              <a:rPr lang="en-US" dirty="0"/>
              <a:t>Measures number of times a company’s EBIT could over its interest payments</a:t>
            </a:r>
          </a:p>
          <a:p>
            <a:pPr lvl="1"/>
            <a:r>
              <a:rPr lang="en-US" dirty="0"/>
              <a:t>Higher ratio indicates stronger solvency, offering more assurance the company can service its debt</a:t>
            </a:r>
          </a:p>
        </p:txBody>
      </p:sp>
    </p:spTree>
    <p:extLst>
      <p:ext uri="{BB962C8B-B14F-4D97-AF65-F5344CB8AC3E}">
        <p14:creationId xmlns:p14="http://schemas.microsoft.com/office/powerpoint/2010/main" val="540612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Interpretation</a:t>
            </a:r>
          </a:p>
        </p:txBody>
      </p:sp>
      <p:sp>
        <p:nvSpPr>
          <p:cNvPr id="3" name="Content Placeholder 2"/>
          <p:cNvSpPr>
            <a:spLocks noGrp="1"/>
          </p:cNvSpPr>
          <p:nvPr>
            <p:ph idx="1"/>
          </p:nvPr>
        </p:nvSpPr>
        <p:spPr/>
        <p:txBody>
          <a:bodyPr/>
          <a:lstStyle/>
          <a:p>
            <a:r>
              <a:rPr lang="en-US" dirty="0"/>
              <a:t>ROA</a:t>
            </a:r>
          </a:p>
          <a:p>
            <a:pPr lvl="1"/>
            <a:r>
              <a:rPr lang="en-US" dirty="0"/>
              <a:t>Measures the return earned by a company on its asset</a:t>
            </a:r>
          </a:p>
          <a:p>
            <a:pPr lvl="1"/>
            <a:r>
              <a:rPr lang="en-US" dirty="0"/>
              <a:t>Higher the ratio, the more income generated by a given level of assets</a:t>
            </a:r>
          </a:p>
          <a:p>
            <a:r>
              <a:rPr lang="en-US" dirty="0"/>
              <a:t>ROE</a:t>
            </a:r>
          </a:p>
          <a:p>
            <a:pPr lvl="1"/>
            <a:r>
              <a:rPr lang="en-US" dirty="0"/>
              <a:t>Measures the return earned by a company on its equity capital, including minority equity, preferred equity and common equity</a:t>
            </a:r>
          </a:p>
        </p:txBody>
      </p:sp>
    </p:spTree>
    <p:extLst>
      <p:ext uri="{BB962C8B-B14F-4D97-AF65-F5344CB8AC3E}">
        <p14:creationId xmlns:p14="http://schemas.microsoft.com/office/powerpoint/2010/main" val="3893859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Ratios</a:t>
            </a:r>
          </a:p>
        </p:txBody>
      </p:sp>
      <p:sp>
        <p:nvSpPr>
          <p:cNvPr id="3" name="Content Placeholder 2"/>
          <p:cNvSpPr>
            <a:spLocks noGrp="1"/>
          </p:cNvSpPr>
          <p:nvPr>
            <p:ph idx="1"/>
          </p:nvPr>
        </p:nvSpPr>
        <p:spPr/>
        <p:txBody>
          <a:bodyPr>
            <a:normAutofit/>
          </a:bodyPr>
          <a:lstStyle/>
          <a:p>
            <a:r>
              <a:rPr lang="en-US" sz="2000" b="1" dirty="0"/>
              <a:t>Profitability Ratios</a:t>
            </a:r>
          </a:p>
          <a:p>
            <a:pPr lvl="1"/>
            <a:r>
              <a:rPr lang="en-US" sz="1800" i="1" dirty="0"/>
              <a:t>Gross Profit Margin </a:t>
            </a:r>
            <a:r>
              <a:rPr lang="en-US" sz="1800" dirty="0"/>
              <a:t>= (Revenue – COGS) / Revenue</a:t>
            </a:r>
          </a:p>
          <a:p>
            <a:pPr lvl="1"/>
            <a:r>
              <a:rPr lang="en-US" sz="1800" i="1" dirty="0"/>
              <a:t>EBITDA Margin </a:t>
            </a:r>
            <a:r>
              <a:rPr lang="en-US" sz="1800" dirty="0"/>
              <a:t>= EBITDA / Revenue</a:t>
            </a:r>
          </a:p>
          <a:p>
            <a:pPr lvl="1"/>
            <a:r>
              <a:rPr lang="en-US" sz="1800" i="1" dirty="0"/>
              <a:t>EBIT Margin </a:t>
            </a:r>
            <a:r>
              <a:rPr lang="en-US" sz="1800" dirty="0"/>
              <a:t>= EBIT / Revenue</a:t>
            </a:r>
          </a:p>
          <a:p>
            <a:pPr lvl="1"/>
            <a:r>
              <a:rPr lang="en-US" sz="1800" i="1" dirty="0"/>
              <a:t>Net Income Margin </a:t>
            </a:r>
            <a:r>
              <a:rPr lang="en-US" sz="1800" dirty="0"/>
              <a:t>= Net Income / Revenue</a:t>
            </a:r>
          </a:p>
          <a:p>
            <a:r>
              <a:rPr lang="en-US" sz="2000" b="1" dirty="0"/>
              <a:t>Activity Ratios</a:t>
            </a:r>
          </a:p>
          <a:p>
            <a:pPr lvl="1"/>
            <a:r>
              <a:rPr lang="en-US" sz="1800" i="1" dirty="0"/>
              <a:t>Inventory Turnover </a:t>
            </a:r>
            <a:r>
              <a:rPr lang="en-US" sz="1800" dirty="0"/>
              <a:t>= COGS/Average Inventory</a:t>
            </a:r>
          </a:p>
          <a:p>
            <a:pPr lvl="1"/>
            <a:r>
              <a:rPr lang="en-US" sz="1800" i="1" dirty="0"/>
              <a:t>Days of Inventory on Hand </a:t>
            </a:r>
            <a:r>
              <a:rPr lang="en-US" sz="1800" dirty="0"/>
              <a:t>= 365 / Inventory Turnover </a:t>
            </a:r>
          </a:p>
          <a:p>
            <a:pPr lvl="1"/>
            <a:r>
              <a:rPr lang="en-US" sz="1800" i="1" dirty="0"/>
              <a:t>Receivables Turnover</a:t>
            </a:r>
            <a:r>
              <a:rPr lang="en-US" sz="1800" dirty="0"/>
              <a:t> = Net Sales / </a:t>
            </a:r>
            <a:r>
              <a:rPr lang="en-US" sz="1800" dirty="0" err="1"/>
              <a:t>Avg</a:t>
            </a:r>
            <a:r>
              <a:rPr lang="en-US" sz="1800" dirty="0"/>
              <a:t> AR</a:t>
            </a:r>
            <a:endParaRPr lang="en-US" sz="1800" i="1" dirty="0"/>
          </a:p>
          <a:p>
            <a:pPr lvl="1"/>
            <a:r>
              <a:rPr lang="en-US" sz="1800" i="1" dirty="0"/>
              <a:t>Days of Sales Outstanding (DSO) </a:t>
            </a:r>
            <a:r>
              <a:rPr lang="en-US" sz="1800" dirty="0"/>
              <a:t>= 365/Receivables Turnover</a:t>
            </a:r>
            <a:endParaRPr lang="en-US" sz="1800" i="1" dirty="0"/>
          </a:p>
          <a:p>
            <a:pPr lvl="1"/>
            <a:r>
              <a:rPr lang="en-US" sz="1800" i="1" dirty="0"/>
              <a:t>Payables Turnover </a:t>
            </a:r>
            <a:r>
              <a:rPr lang="en-US" sz="1800" dirty="0"/>
              <a:t> = (COGS + </a:t>
            </a:r>
            <a:r>
              <a:rPr lang="en-US" sz="1800" dirty="0" err="1"/>
              <a:t>Chg</a:t>
            </a:r>
            <a:r>
              <a:rPr lang="en-US" sz="1800" dirty="0"/>
              <a:t> in Inventory)/ </a:t>
            </a:r>
            <a:r>
              <a:rPr lang="en-US" sz="1800" dirty="0" err="1"/>
              <a:t>Avg</a:t>
            </a:r>
            <a:r>
              <a:rPr lang="en-US" sz="1800" dirty="0"/>
              <a:t> AP</a:t>
            </a:r>
            <a:endParaRPr lang="en-US" sz="1800" i="1" dirty="0"/>
          </a:p>
          <a:p>
            <a:pPr lvl="1"/>
            <a:r>
              <a:rPr lang="en-US" sz="1800" i="1" dirty="0"/>
              <a:t>Days Payable Outstanding = </a:t>
            </a:r>
            <a:r>
              <a:rPr lang="en-US" sz="1800" dirty="0"/>
              <a:t>365/Payables Turnover</a:t>
            </a:r>
            <a:endParaRPr lang="en-US" sz="1800" i="1" dirty="0"/>
          </a:p>
          <a:p>
            <a:pPr lvl="1"/>
            <a:r>
              <a:rPr lang="en-US" sz="1800" i="1" dirty="0"/>
              <a:t>Fixed Asset Turnover</a:t>
            </a:r>
            <a:r>
              <a:rPr lang="en-US" sz="1800" dirty="0"/>
              <a:t> = Net Sales / </a:t>
            </a:r>
            <a:r>
              <a:rPr lang="en-US" sz="1800" dirty="0" err="1"/>
              <a:t>Avg</a:t>
            </a:r>
            <a:r>
              <a:rPr lang="en-US" sz="1800" dirty="0"/>
              <a:t> Net PPE</a:t>
            </a:r>
            <a:endParaRPr lang="en-US" sz="1800" i="1" dirty="0"/>
          </a:p>
          <a:p>
            <a:pPr lvl="1"/>
            <a:r>
              <a:rPr lang="en-US" sz="1800" i="1" dirty="0"/>
              <a:t>Total Asset Turnover</a:t>
            </a:r>
            <a:r>
              <a:rPr lang="en-US" sz="1800" dirty="0"/>
              <a:t> = Revenue / </a:t>
            </a:r>
            <a:r>
              <a:rPr lang="en-US" sz="1800" dirty="0" err="1"/>
              <a:t>Avg</a:t>
            </a:r>
            <a:r>
              <a:rPr lang="en-US" sz="1800" dirty="0"/>
              <a:t> Assets</a:t>
            </a:r>
            <a:endParaRPr lang="en-US" sz="1800" i="1" dirty="0"/>
          </a:p>
        </p:txBody>
      </p:sp>
    </p:spTree>
    <p:extLst>
      <p:ext uri="{BB962C8B-B14F-4D97-AF65-F5344CB8AC3E}">
        <p14:creationId xmlns:p14="http://schemas.microsoft.com/office/powerpoint/2010/main" val="1213497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Ratios</a:t>
            </a:r>
          </a:p>
        </p:txBody>
      </p:sp>
      <p:sp>
        <p:nvSpPr>
          <p:cNvPr id="3" name="Content Placeholder 2"/>
          <p:cNvSpPr>
            <a:spLocks noGrp="1"/>
          </p:cNvSpPr>
          <p:nvPr>
            <p:ph idx="1"/>
          </p:nvPr>
        </p:nvSpPr>
        <p:spPr/>
        <p:txBody>
          <a:bodyPr>
            <a:normAutofit/>
          </a:bodyPr>
          <a:lstStyle/>
          <a:p>
            <a:r>
              <a:rPr lang="en-US" b="1" dirty="0"/>
              <a:t>Liquidity Ratios</a:t>
            </a:r>
          </a:p>
          <a:p>
            <a:pPr lvl="1"/>
            <a:r>
              <a:rPr lang="en-US" i="1" dirty="0"/>
              <a:t>Current Ratio</a:t>
            </a:r>
            <a:r>
              <a:rPr lang="en-US" dirty="0"/>
              <a:t> = Current Assets / Current Liabilities</a:t>
            </a:r>
            <a:endParaRPr lang="en-US" i="1" dirty="0"/>
          </a:p>
          <a:p>
            <a:pPr lvl="1"/>
            <a:r>
              <a:rPr lang="en-US" i="1" dirty="0"/>
              <a:t>Quick Ratio</a:t>
            </a:r>
            <a:r>
              <a:rPr lang="en-US" dirty="0"/>
              <a:t> = (Current Assets – Inventories) / Current Liabilities</a:t>
            </a:r>
            <a:endParaRPr lang="en-US" i="1" dirty="0"/>
          </a:p>
          <a:p>
            <a:pPr lvl="1"/>
            <a:r>
              <a:rPr lang="en-US" i="1" dirty="0"/>
              <a:t>Cash Ratio</a:t>
            </a:r>
            <a:r>
              <a:rPr lang="en-US" dirty="0"/>
              <a:t> = Total Cash &amp; Equivalents / Current Liabilities</a:t>
            </a:r>
            <a:endParaRPr lang="en-US" i="1" dirty="0"/>
          </a:p>
          <a:p>
            <a:pPr lvl="1"/>
            <a:r>
              <a:rPr lang="en-US" i="1" dirty="0"/>
              <a:t>Cash Conversion Cycle(CCC)</a:t>
            </a:r>
            <a:r>
              <a:rPr lang="en-US" dirty="0"/>
              <a:t> = DIO+DSO-DPO</a:t>
            </a:r>
            <a:endParaRPr lang="en-US" i="1" dirty="0"/>
          </a:p>
          <a:p>
            <a:r>
              <a:rPr lang="en-US" b="1" dirty="0"/>
              <a:t>Solvency Ratios</a:t>
            </a:r>
          </a:p>
          <a:p>
            <a:pPr lvl="1"/>
            <a:r>
              <a:rPr lang="en-US" i="1" dirty="0"/>
              <a:t>Debt to Assets = </a:t>
            </a:r>
            <a:r>
              <a:rPr lang="en-US" dirty="0"/>
              <a:t>Total Debt / Total Assets</a:t>
            </a:r>
            <a:endParaRPr lang="en-US" i="1" dirty="0"/>
          </a:p>
          <a:p>
            <a:pPr lvl="1"/>
            <a:r>
              <a:rPr lang="en-US" i="1" dirty="0"/>
              <a:t>Debt to Capital</a:t>
            </a:r>
            <a:r>
              <a:rPr lang="en-US" dirty="0"/>
              <a:t> = Total Debt / (Shareholders’ </a:t>
            </a:r>
            <a:r>
              <a:rPr lang="en-US" dirty="0" err="1"/>
              <a:t>Equity+Debt</a:t>
            </a:r>
            <a:r>
              <a:rPr lang="en-US" dirty="0"/>
              <a:t>)</a:t>
            </a:r>
            <a:endParaRPr lang="en-US" i="1" dirty="0"/>
          </a:p>
          <a:p>
            <a:pPr lvl="1"/>
            <a:r>
              <a:rPr lang="en-US" i="1" dirty="0"/>
              <a:t>Debt to Equity</a:t>
            </a:r>
            <a:r>
              <a:rPr lang="en-US" dirty="0"/>
              <a:t> = Total Debt / Total Equity</a:t>
            </a:r>
            <a:endParaRPr lang="en-US" i="1" dirty="0"/>
          </a:p>
          <a:p>
            <a:pPr lvl="1"/>
            <a:r>
              <a:rPr lang="en-US" i="1" dirty="0"/>
              <a:t>Financial Leverage </a:t>
            </a:r>
            <a:r>
              <a:rPr lang="en-US" dirty="0"/>
              <a:t> = Total Assets / Shareholders’ Equity</a:t>
            </a:r>
            <a:endParaRPr lang="en-US" i="1" dirty="0"/>
          </a:p>
          <a:p>
            <a:pPr lvl="1"/>
            <a:r>
              <a:rPr lang="en-US" i="1" dirty="0"/>
              <a:t>Interest Coverage</a:t>
            </a:r>
            <a:r>
              <a:rPr lang="en-US" dirty="0"/>
              <a:t> = EBIT / Interest Expense</a:t>
            </a:r>
            <a:endParaRPr lang="en-US" i="1" dirty="0"/>
          </a:p>
          <a:p>
            <a:pPr lvl="1"/>
            <a:endParaRPr lang="en-US" sz="1400" dirty="0"/>
          </a:p>
        </p:txBody>
      </p:sp>
    </p:spTree>
    <p:extLst>
      <p:ext uri="{BB962C8B-B14F-4D97-AF65-F5344CB8AC3E}">
        <p14:creationId xmlns:p14="http://schemas.microsoft.com/office/powerpoint/2010/main" val="229744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Ratios</a:t>
            </a:r>
          </a:p>
        </p:txBody>
      </p:sp>
      <p:sp>
        <p:nvSpPr>
          <p:cNvPr id="3" name="Content Placeholder 2"/>
          <p:cNvSpPr>
            <a:spLocks noGrp="1"/>
          </p:cNvSpPr>
          <p:nvPr>
            <p:ph idx="1"/>
          </p:nvPr>
        </p:nvSpPr>
        <p:spPr/>
        <p:txBody>
          <a:bodyPr>
            <a:normAutofit fontScale="92500" lnSpcReduction="10000"/>
          </a:bodyPr>
          <a:lstStyle/>
          <a:p>
            <a:r>
              <a:rPr lang="en-US" b="1" dirty="0"/>
              <a:t>Supplemental Ratios</a:t>
            </a:r>
          </a:p>
          <a:p>
            <a:pPr lvl="1"/>
            <a:r>
              <a:rPr lang="en-US" i="1" dirty="0"/>
              <a:t>Effective Tax Rate = </a:t>
            </a:r>
            <a:r>
              <a:rPr lang="en-US" dirty="0"/>
              <a:t>Income taxes/EBT</a:t>
            </a:r>
            <a:endParaRPr lang="en-US" i="1" dirty="0"/>
          </a:p>
          <a:p>
            <a:pPr lvl="1"/>
            <a:r>
              <a:rPr lang="en-US" i="1" dirty="0"/>
              <a:t>SG&amp;A as % of Revenue = </a:t>
            </a:r>
            <a:r>
              <a:rPr lang="en-US" dirty="0"/>
              <a:t>SG&amp;A/Revenue</a:t>
            </a:r>
            <a:endParaRPr lang="en-US" i="1" dirty="0"/>
          </a:p>
          <a:p>
            <a:pPr lvl="1"/>
            <a:r>
              <a:rPr lang="en-US" i="1" dirty="0"/>
              <a:t>ROA</a:t>
            </a:r>
            <a:r>
              <a:rPr lang="en-US" dirty="0"/>
              <a:t> = NI/Total Assets</a:t>
            </a:r>
            <a:br>
              <a:rPr lang="en-US" i="1" dirty="0"/>
            </a:br>
            <a:r>
              <a:rPr lang="en-US" i="1" dirty="0"/>
              <a:t>ROE</a:t>
            </a:r>
            <a:r>
              <a:rPr lang="en-US" dirty="0"/>
              <a:t> = NI/Shareholders’ Equity</a:t>
            </a:r>
            <a:endParaRPr lang="en-US" i="1" dirty="0"/>
          </a:p>
          <a:p>
            <a:pPr lvl="1"/>
            <a:r>
              <a:rPr lang="en-US" i="1" dirty="0"/>
              <a:t>CAPEX as % of Sales </a:t>
            </a:r>
            <a:r>
              <a:rPr lang="en-US" dirty="0"/>
              <a:t> = Abs(CAPEX)/Revenue</a:t>
            </a:r>
            <a:endParaRPr lang="en-US" i="1" dirty="0"/>
          </a:p>
          <a:p>
            <a:pPr lvl="1"/>
            <a:r>
              <a:rPr lang="en-US" i="1" dirty="0"/>
              <a:t>Depreciation as % of Net PPE</a:t>
            </a:r>
            <a:r>
              <a:rPr lang="en-US" dirty="0"/>
              <a:t> = Depreciation/Net PPE</a:t>
            </a:r>
            <a:endParaRPr lang="en-US" i="1" dirty="0"/>
          </a:p>
          <a:p>
            <a:pPr lvl="1"/>
            <a:r>
              <a:rPr lang="en-US" i="1" dirty="0"/>
              <a:t>Dividend per share = ABS(Dividend paid) / Shares Outstanding</a:t>
            </a:r>
          </a:p>
          <a:p>
            <a:pPr lvl="1"/>
            <a:r>
              <a:rPr lang="en-US" i="1" dirty="0"/>
              <a:t>AR as a % of Revenue</a:t>
            </a:r>
            <a:r>
              <a:rPr lang="en-US" dirty="0"/>
              <a:t>= AR/Revenue</a:t>
            </a:r>
            <a:endParaRPr lang="en-US" i="1" dirty="0"/>
          </a:p>
          <a:p>
            <a:pPr lvl="1"/>
            <a:r>
              <a:rPr lang="en-US" i="1" dirty="0"/>
              <a:t>AP as a % of Cost of Sales</a:t>
            </a:r>
            <a:r>
              <a:rPr lang="en-US" dirty="0"/>
              <a:t> = AP/COGS</a:t>
            </a:r>
          </a:p>
          <a:p>
            <a:pPr lvl="1"/>
            <a:r>
              <a:rPr lang="en-US" i="1" dirty="0"/>
              <a:t>Inventory as % of COGS = </a:t>
            </a:r>
            <a:r>
              <a:rPr lang="en-US" dirty="0" err="1"/>
              <a:t>Inv</a:t>
            </a:r>
            <a:r>
              <a:rPr lang="en-US" dirty="0"/>
              <a:t> / COGS (t)</a:t>
            </a:r>
          </a:p>
          <a:p>
            <a:pPr lvl="1"/>
            <a:r>
              <a:rPr lang="en-US" i="1" dirty="0"/>
              <a:t>Interest Rate on Debt = </a:t>
            </a:r>
            <a:r>
              <a:rPr lang="en-US" dirty="0"/>
              <a:t>Interest Expense/Total Debts</a:t>
            </a:r>
          </a:p>
          <a:p>
            <a:pPr lvl="1"/>
            <a:r>
              <a:rPr lang="en-US" i="1" dirty="0"/>
              <a:t>Total Asset Growth = (Total Assets / Total Assets last year)-1</a:t>
            </a:r>
          </a:p>
          <a:p>
            <a:pPr lvl="1"/>
            <a:r>
              <a:rPr lang="en-US" i="1" dirty="0"/>
              <a:t>Dividend Payout Ratio</a:t>
            </a:r>
            <a:r>
              <a:rPr lang="en-US" dirty="0"/>
              <a:t> = Dividends/Net Income</a:t>
            </a:r>
            <a:endParaRPr lang="en-US" i="1" dirty="0"/>
          </a:p>
          <a:p>
            <a:pPr lvl="1"/>
            <a:r>
              <a:rPr lang="en-US" i="1" dirty="0"/>
              <a:t>Revenue Growth Rate</a:t>
            </a:r>
            <a:r>
              <a:rPr lang="en-US" dirty="0"/>
              <a:t> = (Current Revenue/Prior Revenue)-1</a:t>
            </a:r>
            <a:endParaRPr lang="en-US" i="1" dirty="0"/>
          </a:p>
        </p:txBody>
      </p:sp>
    </p:spTree>
    <p:extLst>
      <p:ext uri="{BB962C8B-B14F-4D97-AF65-F5344CB8AC3E}">
        <p14:creationId xmlns:p14="http://schemas.microsoft.com/office/powerpoint/2010/main" val="1864792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71" y="3465630"/>
            <a:ext cx="4540829" cy="232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052" y="1381124"/>
            <a:ext cx="4105548" cy="1577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The Basics: Excel Functions</a:t>
            </a:r>
          </a:p>
        </p:txBody>
      </p:sp>
      <p:sp>
        <p:nvSpPr>
          <p:cNvPr id="3" name="Content Placeholder 2"/>
          <p:cNvSpPr>
            <a:spLocks noGrp="1"/>
          </p:cNvSpPr>
          <p:nvPr>
            <p:ph idx="1"/>
          </p:nvPr>
        </p:nvSpPr>
        <p:spPr>
          <a:xfrm>
            <a:off x="5638800" y="1600200"/>
            <a:ext cx="3200400" cy="4876800"/>
          </a:xfrm>
        </p:spPr>
        <p:txBody>
          <a:bodyPr/>
          <a:lstStyle/>
          <a:p>
            <a:pPr lvl="1"/>
            <a:r>
              <a:rPr lang="en-US" dirty="0">
                <a:hlinkClick r:id="rId4"/>
              </a:rPr>
              <a:t>ABS</a:t>
            </a:r>
            <a:r>
              <a:rPr lang="en-US" dirty="0"/>
              <a:t> – provides the absolute value </a:t>
            </a:r>
          </a:p>
          <a:p>
            <a:pPr lvl="2"/>
            <a:r>
              <a:rPr lang="en-US" dirty="0"/>
              <a:t>=ABS()</a:t>
            </a:r>
          </a:p>
          <a:p>
            <a:pPr lvl="2"/>
            <a:r>
              <a:rPr lang="en-US" dirty="0"/>
              <a:t>Sheet </a:t>
            </a:r>
            <a:r>
              <a:rPr lang="en-US" i="1" dirty="0"/>
              <a:t>Ratios</a:t>
            </a:r>
            <a:endParaRPr lang="en-US" dirty="0"/>
          </a:p>
          <a:p>
            <a:pPr lvl="2"/>
            <a:r>
              <a:rPr lang="en-US" dirty="0"/>
              <a:t>Cell B39 for </a:t>
            </a:r>
            <a:r>
              <a:rPr lang="en-US" i="1" dirty="0"/>
              <a:t>CAPEX as a % of Sales</a:t>
            </a:r>
          </a:p>
          <a:p>
            <a:pPr lvl="2"/>
            <a:r>
              <a:rPr lang="en-US" dirty="0"/>
              <a:t>Type “=ABS(CF!B29)/IS!B8</a:t>
            </a:r>
          </a:p>
          <a:p>
            <a:pPr lvl="3"/>
            <a:r>
              <a:rPr lang="en-US" dirty="0"/>
              <a:t>Referencing CAPEX from the </a:t>
            </a:r>
            <a:r>
              <a:rPr lang="en-US" i="1" dirty="0"/>
              <a:t>CF</a:t>
            </a:r>
            <a:r>
              <a:rPr lang="en-US" dirty="0"/>
              <a:t> sheet cell B29 and Sales from the </a:t>
            </a:r>
            <a:r>
              <a:rPr lang="en-US" i="1" dirty="0"/>
              <a:t>IS </a:t>
            </a:r>
            <a:r>
              <a:rPr lang="en-US" dirty="0"/>
              <a:t>sheet cell B8</a:t>
            </a:r>
          </a:p>
          <a:p>
            <a:pPr lvl="2"/>
            <a:r>
              <a:rPr lang="en-US" dirty="0"/>
              <a:t>Result</a:t>
            </a:r>
          </a:p>
          <a:p>
            <a:pPr lvl="2"/>
            <a:r>
              <a:rPr lang="en-US" dirty="0"/>
              <a:t>The ratio will update when the CAPEX and Sales figures change</a:t>
            </a:r>
          </a:p>
          <a:p>
            <a:pPr lvl="2"/>
            <a:endParaRPr lang="en-US" dirty="0"/>
          </a:p>
          <a:p>
            <a:pPr lvl="2"/>
            <a:endParaRPr lang="en-US" dirty="0"/>
          </a:p>
          <a:p>
            <a:endParaRPr lang="en-US" dirty="0"/>
          </a:p>
        </p:txBody>
      </p:sp>
      <p:cxnSp>
        <p:nvCxnSpPr>
          <p:cNvPr id="5" name="Straight Arrow Connector 4"/>
          <p:cNvCxnSpPr/>
          <p:nvPr/>
        </p:nvCxnSpPr>
        <p:spPr>
          <a:xfrm flipH="1" flipV="1">
            <a:off x="4114800" y="2781300"/>
            <a:ext cx="2195947" cy="419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4655926" y="3603081"/>
            <a:ext cx="1711805" cy="1908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11268" idx="3"/>
          </p:cNvCxnSpPr>
          <p:nvPr/>
        </p:nvCxnSpPr>
        <p:spPr>
          <a:xfrm flipH="1" flipV="1">
            <a:off x="4655926" y="5551110"/>
            <a:ext cx="1661747" cy="876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126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971" y="5105400"/>
            <a:ext cx="4319955" cy="891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2256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464" y="4373662"/>
            <a:ext cx="4178482" cy="759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464" y="1627650"/>
            <a:ext cx="4178481" cy="81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The Basics: Excel Functions</a:t>
            </a:r>
          </a:p>
        </p:txBody>
      </p:sp>
      <p:sp>
        <p:nvSpPr>
          <p:cNvPr id="3" name="Content Placeholder 2"/>
          <p:cNvSpPr>
            <a:spLocks noGrp="1"/>
          </p:cNvSpPr>
          <p:nvPr>
            <p:ph idx="1"/>
          </p:nvPr>
        </p:nvSpPr>
        <p:spPr>
          <a:xfrm>
            <a:off x="5257800" y="1600200"/>
            <a:ext cx="3429000" cy="4876800"/>
          </a:xfrm>
        </p:spPr>
        <p:txBody>
          <a:bodyPr/>
          <a:lstStyle/>
          <a:p>
            <a:pPr lvl="1"/>
            <a:r>
              <a:rPr lang="en-US" sz="1800" dirty="0">
                <a:hlinkClick r:id="rId4"/>
              </a:rPr>
              <a:t>AVERAGE</a:t>
            </a:r>
            <a:r>
              <a:rPr lang="en-US" sz="1800" dirty="0"/>
              <a:t> – used to find the average or arithmetic mean of a list of numbers</a:t>
            </a:r>
          </a:p>
          <a:p>
            <a:pPr lvl="2"/>
            <a:r>
              <a:rPr lang="en-US" sz="1600" dirty="0"/>
              <a:t>=AVERAGE()</a:t>
            </a:r>
          </a:p>
          <a:p>
            <a:pPr lvl="2"/>
            <a:r>
              <a:rPr lang="en-US" sz="1600" dirty="0"/>
              <a:t>Sheet </a:t>
            </a:r>
            <a:r>
              <a:rPr lang="en-US" sz="1600" i="1" dirty="0"/>
              <a:t>Ratios</a:t>
            </a:r>
            <a:r>
              <a:rPr lang="en-US" sz="1600" dirty="0"/>
              <a:t> cell B14 for </a:t>
            </a:r>
            <a:r>
              <a:rPr lang="en-US" sz="1600" i="1" dirty="0"/>
              <a:t>Receivables Turnover</a:t>
            </a:r>
            <a:endParaRPr lang="en-US" sz="1600" dirty="0"/>
          </a:p>
          <a:p>
            <a:pPr lvl="2"/>
            <a:r>
              <a:rPr lang="en-US" sz="1600" dirty="0"/>
              <a:t>Type “=IS!B6/(AVERAGE((BS!B8+BS!B9)))”</a:t>
            </a:r>
          </a:p>
          <a:p>
            <a:pPr lvl="2"/>
            <a:r>
              <a:rPr lang="en-US" sz="1600" dirty="0"/>
              <a:t>Result</a:t>
            </a:r>
          </a:p>
          <a:p>
            <a:pPr lvl="2"/>
            <a:r>
              <a:rPr lang="en-US" sz="1600" dirty="0"/>
              <a:t>Taking the average of receivables on the </a:t>
            </a:r>
            <a:r>
              <a:rPr lang="en-US" sz="1600" i="1" dirty="0"/>
              <a:t>BS</a:t>
            </a:r>
            <a:r>
              <a:rPr lang="en-US" sz="1600" dirty="0"/>
              <a:t> sheet</a:t>
            </a:r>
          </a:p>
        </p:txBody>
      </p:sp>
      <p:cxnSp>
        <p:nvCxnSpPr>
          <p:cNvPr id="5" name="Straight Arrow Connector 4"/>
          <p:cNvCxnSpPr>
            <a:endCxn id="12291" idx="3"/>
          </p:cNvCxnSpPr>
          <p:nvPr/>
        </p:nvCxnSpPr>
        <p:spPr>
          <a:xfrm flipH="1" flipV="1">
            <a:off x="4732945" y="2033025"/>
            <a:ext cx="1210655" cy="9387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endCxn id="12293" idx="3"/>
          </p:cNvCxnSpPr>
          <p:nvPr/>
        </p:nvCxnSpPr>
        <p:spPr>
          <a:xfrm flipH="1">
            <a:off x="4732946" y="4572000"/>
            <a:ext cx="1015570" cy="1815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229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464" y="2933700"/>
            <a:ext cx="519405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167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791" y="1676400"/>
            <a:ext cx="6042409"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Ratio Analysis</a:t>
            </a:r>
          </a:p>
        </p:txBody>
      </p:sp>
      <p:sp>
        <p:nvSpPr>
          <p:cNvPr id="3" name="Content Placeholder 2"/>
          <p:cNvSpPr>
            <a:spLocks noGrp="1"/>
          </p:cNvSpPr>
          <p:nvPr>
            <p:ph idx="1"/>
          </p:nvPr>
        </p:nvSpPr>
        <p:spPr>
          <a:xfrm>
            <a:off x="6400800" y="1600200"/>
            <a:ext cx="2286000" cy="4876800"/>
          </a:xfrm>
        </p:spPr>
        <p:txBody>
          <a:bodyPr>
            <a:normAutofit lnSpcReduction="10000"/>
          </a:bodyPr>
          <a:lstStyle/>
          <a:p>
            <a:r>
              <a:rPr lang="en-US" sz="2000" dirty="0"/>
              <a:t>You can fix DIV/0 errors with an IFERROR formula if you wish</a:t>
            </a:r>
          </a:p>
          <a:p>
            <a:r>
              <a:rPr lang="en-US" sz="2000" dirty="0"/>
              <a:t>Decreasing inventory turnover means it’s holding inventory longer</a:t>
            </a:r>
          </a:p>
          <a:p>
            <a:r>
              <a:rPr lang="en-US" sz="2000" dirty="0"/>
              <a:t>Decreasing payables turnover means company is taking longer to pay off suppliers</a:t>
            </a:r>
          </a:p>
        </p:txBody>
      </p:sp>
      <p:sp>
        <p:nvSpPr>
          <p:cNvPr id="6" name="Oval 5"/>
          <p:cNvSpPr/>
          <p:nvPr/>
        </p:nvSpPr>
        <p:spPr>
          <a:xfrm>
            <a:off x="4800600" y="3352800"/>
            <a:ext cx="533400" cy="228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437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 Analysis</a:t>
            </a:r>
          </a:p>
        </p:txBody>
      </p:sp>
      <p:sp>
        <p:nvSpPr>
          <p:cNvPr id="6" name="TextBox 5"/>
          <p:cNvSpPr txBox="1"/>
          <p:nvPr/>
        </p:nvSpPr>
        <p:spPr>
          <a:xfrm>
            <a:off x="5943600" y="1337653"/>
            <a:ext cx="2667000" cy="4801314"/>
          </a:xfrm>
          <a:prstGeom prst="rect">
            <a:avLst/>
          </a:prstGeom>
          <a:noFill/>
        </p:spPr>
        <p:txBody>
          <a:bodyPr wrap="square" rtlCol="0">
            <a:spAutoFit/>
          </a:bodyPr>
          <a:lstStyle/>
          <a:p>
            <a:pPr marL="285750" indent="-285750">
              <a:buFont typeface="Arial" panose="020B0604020202020204" pitchFamily="34" charset="0"/>
              <a:buChar char="•"/>
            </a:pPr>
            <a:r>
              <a:rPr lang="en-US" dirty="0"/>
              <a:t>Quick ratio of less than 1 means they could have an issue paying off short term payables</a:t>
            </a:r>
          </a:p>
          <a:p>
            <a:pPr marL="285750" indent="-285750">
              <a:buFont typeface="Arial" panose="020B0604020202020204" pitchFamily="34" charset="0"/>
              <a:buChar char="•"/>
            </a:pPr>
            <a:r>
              <a:rPr lang="en-US" dirty="0"/>
              <a:t>CCC is shorter, means improving liquidity</a:t>
            </a:r>
          </a:p>
          <a:p>
            <a:pPr marL="285750" indent="-285750">
              <a:buFont typeface="Arial" panose="020B0604020202020204" pitchFamily="34" charset="0"/>
              <a:buChar char="•"/>
            </a:pPr>
            <a:r>
              <a:rPr lang="en-US" dirty="0"/>
              <a:t>Decreasing interest coverage shows they have less cash to cover interest payments</a:t>
            </a:r>
          </a:p>
          <a:p>
            <a:pPr marL="285750" indent="-285750">
              <a:buFont typeface="Arial" panose="020B0604020202020204" pitchFamily="34" charset="0"/>
              <a:buChar char="•"/>
            </a:pPr>
            <a:r>
              <a:rPr lang="en-US" dirty="0"/>
              <a:t>ROA is decreasing, less income is being generated by the assets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09220"/>
            <a:ext cx="5257800" cy="5279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0721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Ratios – I/S</a:t>
            </a:r>
          </a:p>
        </p:txBody>
      </p:sp>
      <p:sp>
        <p:nvSpPr>
          <p:cNvPr id="5" name="Content Placeholder 4"/>
          <p:cNvSpPr>
            <a:spLocks noGrp="1"/>
          </p:cNvSpPr>
          <p:nvPr>
            <p:ph idx="1"/>
          </p:nvPr>
        </p:nvSpPr>
        <p:spPr>
          <a:xfrm>
            <a:off x="457200" y="1600200"/>
            <a:ext cx="8229600" cy="5029200"/>
          </a:xfrm>
        </p:spPr>
        <p:txBody>
          <a:bodyPr>
            <a:normAutofit lnSpcReduction="10000"/>
          </a:bodyPr>
          <a:lstStyle/>
          <a:p>
            <a:pPr marL="0" indent="0">
              <a:buNone/>
            </a:pPr>
            <a:r>
              <a:rPr lang="en-US" sz="2000" u="sng" dirty="0"/>
              <a:t>Profitability Ratios</a:t>
            </a:r>
          </a:p>
          <a:p>
            <a:pPr lvl="1"/>
            <a:r>
              <a:rPr lang="en-US" sz="1800" i="1" dirty="0"/>
              <a:t>Gross Profit Margin </a:t>
            </a:r>
            <a:r>
              <a:rPr lang="en-US" sz="1800" dirty="0"/>
              <a:t>= (Revenue – COGS) / Revenue</a:t>
            </a:r>
          </a:p>
          <a:p>
            <a:pPr marL="274320" lvl="1" indent="0">
              <a:buNone/>
            </a:pPr>
            <a:r>
              <a:rPr lang="en-US" sz="1400" dirty="0"/>
              <a:t>	Indicates the % of revenue available to cover operating and other expenses and to 	generate profit. A higher margin indicates some combination of higher product pricing and 	lower product costs</a:t>
            </a:r>
          </a:p>
          <a:p>
            <a:pPr lvl="1"/>
            <a:r>
              <a:rPr lang="en-US" sz="1800" i="1" dirty="0"/>
              <a:t>EBITDA Margin </a:t>
            </a:r>
            <a:r>
              <a:rPr lang="en-US" sz="1800" dirty="0"/>
              <a:t>= EBITDA / Revenue</a:t>
            </a:r>
          </a:p>
          <a:p>
            <a:pPr marL="548640" lvl="2" indent="0">
              <a:buNone/>
            </a:pPr>
            <a:r>
              <a:rPr lang="en-US" sz="1600" dirty="0"/>
              <a:t>	</a:t>
            </a:r>
            <a:r>
              <a:rPr lang="en-US" sz="1400" dirty="0"/>
              <a:t>A measurement of a company's operating profitability. It is equal to earnings before 	Interest, tax, depreciation and amortization (EBITDA) divided by total revenue. Because 	EBITDA excludes depreciation and amortization, EBITDA margin can provide an investor 	with a cleaner view of a company's core profitability</a:t>
            </a:r>
            <a:r>
              <a:rPr lang="en-US" sz="1600" dirty="0"/>
              <a:t>.</a:t>
            </a:r>
          </a:p>
          <a:p>
            <a:pPr lvl="1"/>
            <a:r>
              <a:rPr lang="en-US" sz="1800" i="1" dirty="0"/>
              <a:t>EBIT Margin </a:t>
            </a:r>
            <a:r>
              <a:rPr lang="en-US" sz="1800" dirty="0"/>
              <a:t>= EBIT / Revenue</a:t>
            </a:r>
          </a:p>
          <a:p>
            <a:pPr marL="274320" lvl="1" indent="0">
              <a:buNone/>
            </a:pPr>
            <a:r>
              <a:rPr lang="en-US" sz="1600" dirty="0"/>
              <a:t>	</a:t>
            </a:r>
            <a:r>
              <a:rPr lang="en-US" sz="1400" dirty="0">
                <a:latin typeface="+mj-lt"/>
              </a:rPr>
              <a:t>A profitability measure equal to EBIT divided by net revenue. This value is useful when 	comparing multiple companies, especially within a given industry, and also 	helps evaluate how a company has grown over time.</a:t>
            </a:r>
            <a:br>
              <a:rPr lang="en-US" sz="1400" dirty="0">
                <a:latin typeface="+mj-lt"/>
              </a:rPr>
            </a:br>
            <a:endParaRPr lang="en-US" sz="1400" dirty="0">
              <a:latin typeface="+mj-lt"/>
            </a:endParaRPr>
          </a:p>
          <a:p>
            <a:pPr lvl="1">
              <a:spcBef>
                <a:spcPts val="0"/>
              </a:spcBef>
            </a:pPr>
            <a:r>
              <a:rPr lang="en-US" sz="1800" i="1" dirty="0"/>
              <a:t>Net Income Margin = Net Income / Revenue</a:t>
            </a:r>
          </a:p>
          <a:p>
            <a:pPr marL="274320" lvl="1" indent="0">
              <a:spcBef>
                <a:spcPts val="0"/>
              </a:spcBef>
              <a:buNone/>
            </a:pPr>
            <a:r>
              <a:rPr lang="en-US" sz="2400" dirty="0"/>
              <a:t>	</a:t>
            </a:r>
            <a:r>
              <a:rPr lang="en-US" sz="1400" dirty="0"/>
              <a:t>It measures how much out of every dollar of sales a company actually keeps in earnings. Profit margin is very useful when comparing companies in similar industries. A higher profit margin indicates a more profitable company that has better control over its costs compared to its competitors.</a:t>
            </a:r>
          </a:p>
        </p:txBody>
      </p:sp>
    </p:spTree>
    <p:extLst>
      <p:ext uri="{BB962C8B-B14F-4D97-AF65-F5344CB8AC3E}">
        <p14:creationId xmlns:p14="http://schemas.microsoft.com/office/powerpoint/2010/main" val="3507012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Template - Assumptions</a:t>
            </a:r>
          </a:p>
        </p:txBody>
      </p:sp>
      <p:sp>
        <p:nvSpPr>
          <p:cNvPr id="3" name="Content Placeholder 2"/>
          <p:cNvSpPr>
            <a:spLocks noGrp="1"/>
          </p:cNvSpPr>
          <p:nvPr>
            <p:ph idx="1"/>
          </p:nvPr>
        </p:nvSpPr>
        <p:spPr>
          <a:xfrm>
            <a:off x="5410200" y="1600200"/>
            <a:ext cx="3276600" cy="4876800"/>
          </a:xfrm>
        </p:spPr>
        <p:txBody>
          <a:bodyPr/>
          <a:lstStyle/>
          <a:p>
            <a:r>
              <a:rPr lang="en-US" i="1" dirty="0"/>
              <a:t>Assumptions</a:t>
            </a:r>
            <a:r>
              <a:rPr lang="en-US" dirty="0"/>
              <a:t> sheet is where we will build our Best, Base, and Worst case scenarios</a:t>
            </a:r>
          </a:p>
          <a:p>
            <a:r>
              <a:rPr lang="en-US" dirty="0"/>
              <a:t>The percentages for each case are already provided, but formulas are required to link the </a:t>
            </a:r>
            <a:r>
              <a:rPr lang="en-US" i="1" dirty="0"/>
              <a:t>Assumptions </a:t>
            </a:r>
            <a:r>
              <a:rPr lang="en-US" dirty="0"/>
              <a:t>sheet to the </a:t>
            </a:r>
            <a:r>
              <a:rPr lang="en-US" i="1" dirty="0"/>
              <a:t>Projections</a:t>
            </a:r>
            <a:r>
              <a:rPr lang="en-US" dirty="0"/>
              <a:t> sheet</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752600"/>
            <a:ext cx="48895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9296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37" y="5564187"/>
            <a:ext cx="3104363" cy="861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The Basics: Excel Functions</a:t>
            </a:r>
          </a:p>
        </p:txBody>
      </p:sp>
      <p:sp>
        <p:nvSpPr>
          <p:cNvPr id="3" name="Content Placeholder 2"/>
          <p:cNvSpPr>
            <a:spLocks noGrp="1"/>
          </p:cNvSpPr>
          <p:nvPr>
            <p:ph idx="1"/>
          </p:nvPr>
        </p:nvSpPr>
        <p:spPr>
          <a:xfrm>
            <a:off x="4572886" y="1600200"/>
            <a:ext cx="4113914" cy="4876800"/>
          </a:xfrm>
        </p:spPr>
        <p:txBody>
          <a:bodyPr>
            <a:normAutofit lnSpcReduction="10000"/>
          </a:bodyPr>
          <a:lstStyle/>
          <a:p>
            <a:pPr lvl="1"/>
            <a:r>
              <a:rPr lang="en-US" sz="1800" dirty="0"/>
              <a:t>To create a </a:t>
            </a:r>
            <a:r>
              <a:rPr lang="en-US" sz="1800" dirty="0">
                <a:hlinkClick r:id="rId3"/>
              </a:rPr>
              <a:t>dropdown</a:t>
            </a:r>
            <a:r>
              <a:rPr lang="en-US" sz="1800" dirty="0"/>
              <a:t> list </a:t>
            </a:r>
          </a:p>
          <a:p>
            <a:pPr lvl="2"/>
            <a:r>
              <a:rPr lang="en-US" sz="1600" dirty="0"/>
              <a:t>Type up the list you want to be in the dropdown in the same column in separate cells</a:t>
            </a:r>
          </a:p>
          <a:p>
            <a:pPr lvl="3"/>
            <a:r>
              <a:rPr lang="en-US" sz="1400" dirty="0"/>
              <a:t>For this example, our list of “Best” “Base” “Worst” are on sheet </a:t>
            </a:r>
            <a:r>
              <a:rPr lang="en-US" sz="1400" i="1" dirty="0"/>
              <a:t>Assumptions</a:t>
            </a:r>
            <a:r>
              <a:rPr lang="en-US" sz="1400" dirty="0"/>
              <a:t> cells B4, B5, B6 for you already</a:t>
            </a:r>
          </a:p>
          <a:p>
            <a:pPr lvl="2"/>
            <a:r>
              <a:rPr lang="en-US" sz="1600" dirty="0"/>
              <a:t>Click on the cell where you want your drop down list</a:t>
            </a:r>
          </a:p>
          <a:p>
            <a:pPr lvl="3"/>
            <a:r>
              <a:rPr lang="en-US" sz="1400" dirty="0"/>
              <a:t>Click B8</a:t>
            </a:r>
          </a:p>
          <a:p>
            <a:pPr lvl="2"/>
            <a:r>
              <a:rPr lang="en-US" sz="1600" dirty="0"/>
              <a:t>Under the “Data” tab, click the Data Validation button</a:t>
            </a:r>
          </a:p>
          <a:p>
            <a:pPr lvl="2"/>
            <a:r>
              <a:rPr lang="en-US" sz="1600" dirty="0"/>
              <a:t>Under “Settings”, in the Allow dropdown, choose “List”</a:t>
            </a:r>
          </a:p>
          <a:p>
            <a:pPr lvl="2"/>
            <a:r>
              <a:rPr lang="en-US" sz="1600" dirty="0"/>
              <a:t>In the Source box, enter the range for the list (=$B$4:$B$6</a:t>
            </a:r>
            <a:r>
              <a:rPr lang="en-US" sz="1600" i="1" dirty="0"/>
              <a:t>)</a:t>
            </a:r>
          </a:p>
          <a:p>
            <a:pPr lvl="2"/>
            <a:r>
              <a:rPr lang="en-US" sz="1600" dirty="0"/>
              <a:t>Click “OK”</a:t>
            </a:r>
          </a:p>
          <a:p>
            <a:pPr lvl="2"/>
            <a:r>
              <a:rPr lang="en-US" sz="1600" dirty="0"/>
              <a:t>Voila! (Dropdown is in cell B8</a:t>
            </a:r>
            <a:r>
              <a:rPr lang="en-US" sz="1600" i="1" dirty="0"/>
              <a:t>)</a:t>
            </a:r>
            <a:endParaRPr lang="en-US" sz="1600" dirty="0"/>
          </a:p>
        </p:txBody>
      </p:sp>
      <p:pic>
        <p:nvPicPr>
          <p:cNvPr id="615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37" y="2286000"/>
            <a:ext cx="3781425" cy="306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Left Brace 25"/>
          <p:cNvSpPr/>
          <p:nvPr/>
        </p:nvSpPr>
        <p:spPr>
          <a:xfrm>
            <a:off x="3962400" y="3581400"/>
            <a:ext cx="1219200" cy="2133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Right Brace 26"/>
          <p:cNvSpPr/>
          <p:nvPr/>
        </p:nvSpPr>
        <p:spPr>
          <a:xfrm>
            <a:off x="3200400" y="1596086"/>
            <a:ext cx="762000" cy="38511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Straight Arrow Connector 28"/>
          <p:cNvCxnSpPr>
            <a:endCxn id="27" idx="1"/>
          </p:cNvCxnSpPr>
          <p:nvPr/>
        </p:nvCxnSpPr>
        <p:spPr>
          <a:xfrm flipH="1" flipV="1">
            <a:off x="3962400" y="1788643"/>
            <a:ext cx="1447800" cy="8021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55" name="Straight Arrow Connector 6154"/>
          <p:cNvCxnSpPr>
            <a:endCxn id="16388" idx="3"/>
          </p:cNvCxnSpPr>
          <p:nvPr/>
        </p:nvCxnSpPr>
        <p:spPr>
          <a:xfrm flipH="1" flipV="1">
            <a:off x="3200400" y="5994785"/>
            <a:ext cx="1981200" cy="25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638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221" y="1485899"/>
            <a:ext cx="3086179" cy="555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9404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Excel Functions</a:t>
            </a:r>
          </a:p>
        </p:txBody>
      </p:sp>
      <p:sp>
        <p:nvSpPr>
          <p:cNvPr id="3" name="Content Placeholder 2"/>
          <p:cNvSpPr>
            <a:spLocks noGrp="1"/>
          </p:cNvSpPr>
          <p:nvPr>
            <p:ph idx="1"/>
          </p:nvPr>
        </p:nvSpPr>
        <p:spPr>
          <a:xfrm>
            <a:off x="360829" y="1600200"/>
            <a:ext cx="8325971" cy="4876800"/>
          </a:xfrm>
        </p:spPr>
        <p:txBody>
          <a:bodyPr/>
          <a:lstStyle/>
          <a:p>
            <a:r>
              <a:rPr lang="en-US" dirty="0"/>
              <a:t>Cell reference </a:t>
            </a:r>
            <a:r>
              <a:rPr lang="en-US" dirty="0">
                <a:hlinkClick r:id="rId2"/>
              </a:rPr>
              <a:t>$</a:t>
            </a:r>
            <a:endParaRPr lang="en-US" dirty="0"/>
          </a:p>
          <a:p>
            <a:pPr lvl="1"/>
            <a:r>
              <a:rPr lang="en-US" dirty="0"/>
              <a:t>Using the $ symbol tells Excel that the reference to a specific cell is absolute, which means if you copy the formula to another cell, the reference will always be to that specific cell</a:t>
            </a:r>
          </a:p>
          <a:p>
            <a:pPr lvl="1"/>
            <a:r>
              <a:rPr lang="en-US" dirty="0"/>
              <a:t>Sheet </a:t>
            </a:r>
            <a:r>
              <a:rPr lang="en-US" i="1" dirty="0"/>
              <a:t>Assumptions </a:t>
            </a:r>
            <a:r>
              <a:rPr lang="en-US" dirty="0"/>
              <a:t>cell B10</a:t>
            </a:r>
          </a:p>
          <a:p>
            <a:pPr lvl="1"/>
            <a:r>
              <a:rPr lang="en-US" dirty="0"/>
              <a:t>Type “=IF($B$8=$G$8,F10,IF($B$8=$K$8,J10,N10))”</a:t>
            </a:r>
          </a:p>
          <a:p>
            <a:pPr lvl="1"/>
            <a:r>
              <a:rPr lang="en-US" dirty="0"/>
              <a:t>Result – if you have “Base” chosen in the cell B8 dropdown = 5%</a:t>
            </a:r>
          </a:p>
          <a:p>
            <a:pPr lvl="1"/>
            <a:endParaRPr lang="en-US" dirty="0"/>
          </a:p>
          <a:p>
            <a:pPr lvl="1"/>
            <a:endParaRPr 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028" y="4267200"/>
            <a:ext cx="381146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028" y="5181599"/>
            <a:ext cx="7182972" cy="70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027" y="6019799"/>
            <a:ext cx="3811465" cy="685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3443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Excel Functions</a:t>
            </a:r>
          </a:p>
        </p:txBody>
      </p:sp>
      <p:sp>
        <p:nvSpPr>
          <p:cNvPr id="3" name="Content Placeholder 2"/>
          <p:cNvSpPr>
            <a:spLocks noGrp="1"/>
          </p:cNvSpPr>
          <p:nvPr>
            <p:ph idx="1"/>
          </p:nvPr>
        </p:nvSpPr>
        <p:spPr>
          <a:xfrm>
            <a:off x="609600" y="1600200"/>
            <a:ext cx="8077200" cy="4876800"/>
          </a:xfrm>
        </p:spPr>
        <p:txBody>
          <a:bodyPr/>
          <a:lstStyle/>
          <a:p>
            <a:pPr lvl="1"/>
            <a:r>
              <a:rPr lang="en-US" dirty="0">
                <a:hlinkClick r:id="rId3"/>
              </a:rPr>
              <a:t>IF statements </a:t>
            </a:r>
            <a:r>
              <a:rPr lang="en-US" dirty="0"/>
              <a:t>– used to conduct conditional tests on values and formulas</a:t>
            </a:r>
          </a:p>
          <a:p>
            <a:pPr lvl="2"/>
            <a:r>
              <a:rPr lang="en-US" dirty="0"/>
              <a:t>=IF(logical test, value if true, value if false)</a:t>
            </a:r>
          </a:p>
          <a:p>
            <a:pPr lvl="2"/>
            <a:r>
              <a:rPr lang="en-US" dirty="0"/>
              <a:t>Revisit sheet </a:t>
            </a:r>
            <a:r>
              <a:rPr lang="en-US" i="1" dirty="0"/>
              <a:t>Assumptions</a:t>
            </a:r>
            <a:r>
              <a:rPr lang="en-US" dirty="0"/>
              <a:t> cell B10</a:t>
            </a:r>
          </a:p>
          <a:p>
            <a:pPr lvl="2"/>
            <a:r>
              <a:rPr lang="en-US" dirty="0"/>
              <a:t>=IF($B$8=$G$8,F10,IF($B$8=$K$8,J10,N10))</a:t>
            </a:r>
          </a:p>
          <a:p>
            <a:pPr lvl="2"/>
            <a:r>
              <a:rPr lang="en-US" dirty="0"/>
              <a:t>The IF statement is referencing  our cell B8 dropdown and if the drop down says “Base”, it will reference cell K8 which also says “Base”; the result in cell B10 will be the Sales Growth % listed in J10</a:t>
            </a:r>
          </a:p>
          <a:p>
            <a:pPr lvl="2"/>
            <a:r>
              <a:rPr lang="en-US" dirty="0"/>
              <a:t>Practice seeing cell B10 update by choosing all 3 choices in the cell B8 dropdown </a:t>
            </a:r>
          </a:p>
          <a:p>
            <a:pPr lvl="2"/>
            <a:endParaRPr lang="en-US" dirty="0"/>
          </a:p>
          <a:p>
            <a:endParaRPr lang="en-US" dirty="0"/>
          </a:p>
        </p:txBody>
      </p:sp>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028" y="5181599"/>
            <a:ext cx="7182972" cy="70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19044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 y="1495424"/>
            <a:ext cx="5029493" cy="467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Assumptions</a:t>
            </a:r>
          </a:p>
        </p:txBody>
      </p:sp>
      <p:sp>
        <p:nvSpPr>
          <p:cNvPr id="3" name="Content Placeholder 2"/>
          <p:cNvSpPr>
            <a:spLocks noGrp="1"/>
          </p:cNvSpPr>
          <p:nvPr>
            <p:ph idx="1"/>
          </p:nvPr>
        </p:nvSpPr>
        <p:spPr>
          <a:xfrm>
            <a:off x="5638800" y="1600200"/>
            <a:ext cx="3048000" cy="4876800"/>
          </a:xfrm>
        </p:spPr>
        <p:txBody>
          <a:bodyPr/>
          <a:lstStyle/>
          <a:p>
            <a:r>
              <a:rPr lang="en-US" i="1" dirty="0"/>
              <a:t>See sheet titled “Assumptions” </a:t>
            </a:r>
            <a:endParaRPr lang="en-US" dirty="0"/>
          </a:p>
          <a:p>
            <a:r>
              <a:rPr lang="en-US" dirty="0"/>
              <a:t>Cell B8 is our input cell highlighted purple</a:t>
            </a:r>
          </a:p>
          <a:p>
            <a:pPr lvl="1"/>
            <a:r>
              <a:rPr lang="en-US" dirty="0"/>
              <a:t>Use the dropdown arrow on the cell to select either “Base,” “Best,” or “Worst” and the formulas in the yellow cells will update with the inputs for that specific case</a:t>
            </a:r>
          </a:p>
        </p:txBody>
      </p:sp>
      <p:cxnSp>
        <p:nvCxnSpPr>
          <p:cNvPr id="5" name="Straight Arrow Connector 4"/>
          <p:cNvCxnSpPr/>
          <p:nvPr/>
        </p:nvCxnSpPr>
        <p:spPr>
          <a:xfrm flipH="1">
            <a:off x="4419600" y="2819400"/>
            <a:ext cx="1219200" cy="952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4386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Assumptions</a:t>
            </a:r>
          </a:p>
        </p:txBody>
      </p:sp>
      <p:sp>
        <p:nvSpPr>
          <p:cNvPr id="3" name="Content Placeholder 2"/>
          <p:cNvSpPr>
            <a:spLocks noGrp="1"/>
          </p:cNvSpPr>
          <p:nvPr>
            <p:ph idx="1"/>
          </p:nvPr>
        </p:nvSpPr>
        <p:spPr>
          <a:xfrm>
            <a:off x="457200" y="1600200"/>
            <a:ext cx="7848600" cy="533400"/>
          </a:xfrm>
        </p:spPr>
        <p:txBody>
          <a:bodyPr/>
          <a:lstStyle/>
          <a:p>
            <a:r>
              <a:rPr lang="en-US" dirty="0"/>
              <a:t>Rest of the examples will be using the Base Case</a:t>
            </a:r>
          </a:p>
        </p:txBody>
      </p:sp>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2209800"/>
            <a:ext cx="795456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46247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6404928"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Model Template - Projections</a:t>
            </a:r>
          </a:p>
        </p:txBody>
      </p:sp>
      <p:sp>
        <p:nvSpPr>
          <p:cNvPr id="3" name="Content Placeholder 2"/>
          <p:cNvSpPr>
            <a:spLocks noGrp="1"/>
          </p:cNvSpPr>
          <p:nvPr>
            <p:ph idx="1"/>
          </p:nvPr>
        </p:nvSpPr>
        <p:spPr>
          <a:xfrm>
            <a:off x="6705600" y="1600200"/>
            <a:ext cx="1981200" cy="4876800"/>
          </a:xfrm>
        </p:spPr>
        <p:txBody>
          <a:bodyPr>
            <a:normAutofit lnSpcReduction="10000"/>
          </a:bodyPr>
          <a:lstStyle/>
          <a:p>
            <a:r>
              <a:rPr lang="en-US" dirty="0"/>
              <a:t>The </a:t>
            </a:r>
            <a:r>
              <a:rPr lang="en-US" i="1" dirty="0"/>
              <a:t>Projections</a:t>
            </a:r>
            <a:r>
              <a:rPr lang="en-US" dirty="0"/>
              <a:t> sheet will show the results of our assumptions, like revenue growth, COGS, etc. </a:t>
            </a:r>
          </a:p>
          <a:p>
            <a:r>
              <a:rPr lang="en-US" dirty="0"/>
              <a:t>The bulk of this sheet is formulas</a:t>
            </a:r>
          </a:p>
        </p:txBody>
      </p:sp>
    </p:spTree>
    <p:extLst>
      <p:ext uri="{BB962C8B-B14F-4D97-AF65-F5344CB8AC3E}">
        <p14:creationId xmlns:p14="http://schemas.microsoft.com/office/powerpoint/2010/main" val="147913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08209"/>
            <a:ext cx="6248400" cy="4311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Projections – Base Case</a:t>
            </a:r>
          </a:p>
        </p:txBody>
      </p:sp>
      <p:sp>
        <p:nvSpPr>
          <p:cNvPr id="3" name="Content Placeholder 2"/>
          <p:cNvSpPr>
            <a:spLocks noGrp="1"/>
          </p:cNvSpPr>
          <p:nvPr>
            <p:ph idx="1"/>
          </p:nvPr>
        </p:nvSpPr>
        <p:spPr>
          <a:xfrm>
            <a:off x="6400800" y="1600200"/>
            <a:ext cx="2286000" cy="4876800"/>
          </a:xfrm>
        </p:spPr>
        <p:txBody>
          <a:bodyPr>
            <a:normAutofit lnSpcReduction="10000"/>
          </a:bodyPr>
          <a:lstStyle/>
          <a:p>
            <a:r>
              <a:rPr lang="en-US" dirty="0"/>
              <a:t>Select “Base” in the dropdown on the </a:t>
            </a:r>
            <a:r>
              <a:rPr lang="en-US" i="1" dirty="0"/>
              <a:t>Assumptions</a:t>
            </a:r>
            <a:r>
              <a:rPr lang="en-US" dirty="0"/>
              <a:t> sheet in cell B8</a:t>
            </a:r>
          </a:p>
          <a:p>
            <a:r>
              <a:rPr lang="en-US" i="1" dirty="0"/>
              <a:t>Projections </a:t>
            </a:r>
            <a:r>
              <a:rPr lang="en-US" dirty="0"/>
              <a:t>sheet calculates the IS using the Base case inputs</a:t>
            </a:r>
            <a:endParaRPr lang="en-US" i="1" dirty="0"/>
          </a:p>
        </p:txBody>
      </p:sp>
    </p:spTree>
    <p:extLst>
      <p:ext uri="{BB962C8B-B14F-4D97-AF65-F5344CB8AC3E}">
        <p14:creationId xmlns:p14="http://schemas.microsoft.com/office/powerpoint/2010/main" val="4143951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76400"/>
            <a:ext cx="4495800" cy="4061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Valuation – Base Case</a:t>
            </a:r>
          </a:p>
        </p:txBody>
      </p:sp>
      <p:sp>
        <p:nvSpPr>
          <p:cNvPr id="3" name="Content Placeholder 2"/>
          <p:cNvSpPr>
            <a:spLocks noGrp="1"/>
          </p:cNvSpPr>
          <p:nvPr>
            <p:ph idx="1"/>
          </p:nvPr>
        </p:nvSpPr>
        <p:spPr>
          <a:xfrm>
            <a:off x="5257800" y="1600200"/>
            <a:ext cx="3429000" cy="4876800"/>
          </a:xfrm>
        </p:spPr>
        <p:txBody>
          <a:bodyPr/>
          <a:lstStyle/>
          <a:p>
            <a:r>
              <a:rPr lang="en-US" dirty="0"/>
              <a:t>Valuation is taking the EPS that was calculated on the </a:t>
            </a:r>
            <a:r>
              <a:rPr lang="en-US" i="1" dirty="0"/>
              <a:t>Projections</a:t>
            </a:r>
            <a:r>
              <a:rPr lang="en-US" dirty="0"/>
              <a:t> tab</a:t>
            </a:r>
          </a:p>
          <a:p>
            <a:r>
              <a:rPr lang="en-US" dirty="0"/>
              <a:t>Forecasted price is being calculated based on our projected EPS multiplied by the P/</a:t>
            </a:r>
            <a:r>
              <a:rPr lang="en-US" dirty="0" err="1"/>
              <a:t>Es</a:t>
            </a:r>
            <a:r>
              <a:rPr lang="en-US" dirty="0"/>
              <a:t> of our Cases</a:t>
            </a:r>
          </a:p>
        </p:txBody>
      </p:sp>
    </p:spTree>
    <p:extLst>
      <p:ext uri="{BB962C8B-B14F-4D97-AF65-F5344CB8AC3E}">
        <p14:creationId xmlns:p14="http://schemas.microsoft.com/office/powerpoint/2010/main" val="2408229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Model Template - Dividend Discount Model</a:t>
            </a:r>
          </a:p>
        </p:txBody>
      </p:sp>
      <p:sp>
        <p:nvSpPr>
          <p:cNvPr id="3" name="Content Placeholder 2"/>
          <p:cNvSpPr>
            <a:spLocks noGrp="1"/>
          </p:cNvSpPr>
          <p:nvPr>
            <p:ph idx="1"/>
          </p:nvPr>
        </p:nvSpPr>
        <p:spPr>
          <a:xfrm>
            <a:off x="3009900" y="2857500"/>
            <a:ext cx="3124200" cy="1143000"/>
          </a:xfrm>
        </p:spPr>
        <p:txBody>
          <a:bodyPr>
            <a:normAutofit/>
          </a:bodyPr>
          <a:lstStyle/>
          <a:p>
            <a:r>
              <a:rPr lang="en-US" sz="1800" dirty="0"/>
              <a:t>FORMULA</a:t>
            </a:r>
            <a:endParaRPr lang="en-US" sz="1600" dirty="0"/>
          </a:p>
        </p:txBody>
      </p:sp>
    </p:spTree>
    <p:extLst>
      <p:ext uri="{BB962C8B-B14F-4D97-AF65-F5344CB8AC3E}">
        <p14:creationId xmlns:p14="http://schemas.microsoft.com/office/powerpoint/2010/main" val="26726871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Model Template - Dividend Discount Model</a:t>
            </a:r>
          </a:p>
        </p:txBody>
      </p:sp>
      <p:sp>
        <p:nvSpPr>
          <p:cNvPr id="3" name="Content Placeholder 2"/>
          <p:cNvSpPr>
            <a:spLocks noGrp="1"/>
          </p:cNvSpPr>
          <p:nvPr>
            <p:ph idx="1"/>
          </p:nvPr>
        </p:nvSpPr>
        <p:spPr>
          <a:xfrm>
            <a:off x="5562600" y="1600200"/>
            <a:ext cx="3124200" cy="4876800"/>
          </a:xfrm>
        </p:spPr>
        <p:txBody>
          <a:bodyPr>
            <a:normAutofit lnSpcReduction="10000"/>
          </a:bodyPr>
          <a:lstStyle/>
          <a:p>
            <a:r>
              <a:rPr lang="en-US" sz="1800" dirty="0"/>
              <a:t>Model used for valuing the price of a stock by using predicted dividends and discounting them back to PV</a:t>
            </a:r>
          </a:p>
          <a:p>
            <a:pPr lvl="1"/>
            <a:r>
              <a:rPr lang="en-US" sz="1600" dirty="0"/>
              <a:t>Rationale for the model – the value of any asset is the present value of expected future cash flows discounted at a rate appropriate to the riskiness of the cash flows</a:t>
            </a:r>
          </a:p>
          <a:p>
            <a:pPr lvl="1"/>
            <a:r>
              <a:rPr lang="en-US" sz="1600" dirty="0"/>
              <a:t>If value calculated from DDM is higher than what the shares are currently trading at, then the stock is undervalued</a:t>
            </a:r>
          </a:p>
          <a:p>
            <a:pPr lvl="1"/>
            <a:r>
              <a:rPr lang="en-US" sz="1600" dirty="0"/>
              <a:t>Inputs are expected dividends and the cost on equity</a:t>
            </a:r>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2209800"/>
            <a:ext cx="5319285"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9894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38584"/>
            <a:ext cx="5635438" cy="339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Valuation – DDM – Base Case</a:t>
            </a:r>
          </a:p>
        </p:txBody>
      </p:sp>
      <p:sp>
        <p:nvSpPr>
          <p:cNvPr id="3" name="Content Placeholder 2"/>
          <p:cNvSpPr>
            <a:spLocks noGrp="1"/>
          </p:cNvSpPr>
          <p:nvPr>
            <p:ph idx="1"/>
          </p:nvPr>
        </p:nvSpPr>
        <p:spPr>
          <a:xfrm>
            <a:off x="6283084" y="1600200"/>
            <a:ext cx="2403715" cy="4876800"/>
          </a:xfrm>
        </p:spPr>
        <p:txBody>
          <a:bodyPr/>
          <a:lstStyle/>
          <a:p>
            <a:r>
              <a:rPr lang="en-US" dirty="0"/>
              <a:t>These two should equal – the bottom row is calculating each periods values</a:t>
            </a:r>
          </a:p>
          <a:p>
            <a:pPr lvl="1"/>
            <a:r>
              <a:rPr lang="en-US" dirty="0"/>
              <a:t>Use this as a check to make sure your equation in cell B14 is correct</a:t>
            </a:r>
          </a:p>
        </p:txBody>
      </p:sp>
      <p:cxnSp>
        <p:nvCxnSpPr>
          <p:cNvPr id="5" name="Straight Arrow Connector 4"/>
          <p:cNvCxnSpPr/>
          <p:nvPr/>
        </p:nvCxnSpPr>
        <p:spPr>
          <a:xfrm flipH="1">
            <a:off x="2743200" y="1905000"/>
            <a:ext cx="3657600" cy="2362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5943600" y="1905000"/>
            <a:ext cx="457200" cy="2590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45557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Capital Structure</a:t>
            </a:r>
          </a:p>
        </p:txBody>
      </p:sp>
      <p:sp>
        <p:nvSpPr>
          <p:cNvPr id="3" name="Content Placeholder 2"/>
          <p:cNvSpPr>
            <a:spLocks noGrp="1"/>
          </p:cNvSpPr>
          <p:nvPr>
            <p:ph idx="1"/>
          </p:nvPr>
        </p:nvSpPr>
        <p:spPr/>
        <p:txBody>
          <a:bodyPr/>
          <a:lstStyle/>
          <a:p>
            <a:r>
              <a:rPr lang="en-US" dirty="0"/>
              <a:t>Refers to the % of capital at work in a business</a:t>
            </a:r>
          </a:p>
          <a:p>
            <a:r>
              <a:rPr lang="en-US" dirty="0"/>
              <a:t>Equity capital</a:t>
            </a:r>
          </a:p>
          <a:p>
            <a:pPr lvl="1"/>
            <a:r>
              <a:rPr lang="en-US" dirty="0"/>
              <a:t>Refers to the money put up and owned by shareholders</a:t>
            </a:r>
          </a:p>
          <a:p>
            <a:pPr lvl="2"/>
            <a:r>
              <a:rPr lang="en-US" dirty="0"/>
              <a:t>Contributed capital – money originally invested in exchange for shares of stock or ownership</a:t>
            </a:r>
          </a:p>
          <a:p>
            <a:pPr lvl="2"/>
            <a:r>
              <a:rPr lang="en-US" dirty="0"/>
              <a:t>Retained earnings – profits from past years that have been kept by the company and used to strengthen the balance sheet or fun growth, acquisitions, or expansion</a:t>
            </a:r>
          </a:p>
          <a:p>
            <a:pPr lvl="1"/>
            <a:r>
              <a:rPr lang="en-US" dirty="0"/>
              <a:t>Typically considered more expensive type of capital – its cost is the return the firm must earn to attract investment</a:t>
            </a:r>
          </a:p>
          <a:p>
            <a:r>
              <a:rPr lang="en-US" dirty="0"/>
              <a:t>Debt capital</a:t>
            </a:r>
          </a:p>
          <a:p>
            <a:pPr lvl="1"/>
            <a:r>
              <a:rPr lang="en-US" dirty="0"/>
              <a:t>Refers to the money the firm borrowed</a:t>
            </a:r>
          </a:p>
          <a:p>
            <a:pPr lvl="2"/>
            <a:r>
              <a:rPr lang="en-US" dirty="0"/>
              <a:t>Long-term bonds, short-term commercial paper</a:t>
            </a:r>
          </a:p>
          <a:p>
            <a:pPr lvl="2"/>
            <a:r>
              <a:rPr lang="en-US" dirty="0"/>
              <a:t>Cost of debt depends on health of balance sheet</a:t>
            </a:r>
          </a:p>
        </p:txBody>
      </p:sp>
    </p:spTree>
    <p:extLst>
      <p:ext uri="{BB962C8B-B14F-4D97-AF65-F5344CB8AC3E}">
        <p14:creationId xmlns:p14="http://schemas.microsoft.com/office/powerpoint/2010/main" val="437540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Template - WACC</a:t>
            </a:r>
          </a:p>
        </p:txBody>
      </p:sp>
      <p:sp>
        <p:nvSpPr>
          <p:cNvPr id="3" name="Content Placeholder 2"/>
          <p:cNvSpPr>
            <a:spLocks noGrp="1"/>
          </p:cNvSpPr>
          <p:nvPr>
            <p:ph idx="1"/>
          </p:nvPr>
        </p:nvSpPr>
        <p:spPr>
          <a:xfrm>
            <a:off x="5638800" y="1600200"/>
            <a:ext cx="3048000" cy="4876800"/>
          </a:xfrm>
        </p:spPr>
        <p:txBody>
          <a:bodyPr>
            <a:normAutofit fontScale="92500" lnSpcReduction="10000"/>
          </a:bodyPr>
          <a:lstStyle/>
          <a:p>
            <a:r>
              <a:rPr lang="en-US" sz="2000" dirty="0"/>
              <a:t>Weighted average cost of capital</a:t>
            </a:r>
          </a:p>
          <a:p>
            <a:pPr lvl="1"/>
            <a:r>
              <a:rPr lang="en-US" sz="1800" dirty="0"/>
              <a:t>Calculation of a firm’s cost of capital where the categories are equally weighted</a:t>
            </a:r>
          </a:p>
          <a:p>
            <a:pPr lvl="2"/>
            <a:r>
              <a:rPr lang="en-US" sz="1600" dirty="0"/>
              <a:t>Common stock</a:t>
            </a:r>
          </a:p>
          <a:p>
            <a:pPr lvl="2"/>
            <a:r>
              <a:rPr lang="en-US" sz="1600" dirty="0"/>
              <a:t>Preferred stock</a:t>
            </a:r>
          </a:p>
          <a:p>
            <a:pPr lvl="2"/>
            <a:r>
              <a:rPr lang="en-US" sz="1600" dirty="0"/>
              <a:t>Bonds</a:t>
            </a:r>
          </a:p>
          <a:p>
            <a:pPr lvl="2"/>
            <a:r>
              <a:rPr lang="en-US" sz="1600" dirty="0"/>
              <a:t>Long-term debt</a:t>
            </a:r>
          </a:p>
          <a:p>
            <a:pPr lvl="1"/>
            <a:r>
              <a:rPr lang="en-US" sz="1800" dirty="0"/>
              <a:t>WACC increases as the beta and rate of return on equity increases</a:t>
            </a:r>
          </a:p>
          <a:p>
            <a:pPr lvl="2"/>
            <a:r>
              <a:rPr lang="en-US" sz="1600" dirty="0"/>
              <a:t>Notes a decrease in valuation and higher risk</a:t>
            </a:r>
          </a:p>
          <a:p>
            <a:pPr lvl="1"/>
            <a:r>
              <a:rPr lang="en-US" sz="1800" dirty="0"/>
              <a:t>WACC is used to discount cash flows to determine NPV of certain projects</a:t>
            </a:r>
          </a:p>
        </p:txBody>
      </p:sp>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09800"/>
            <a:ext cx="5763846" cy="3166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46482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WACC</a:t>
            </a:r>
          </a:p>
        </p:txBody>
      </p:sp>
      <p:sp>
        <p:nvSpPr>
          <p:cNvPr id="3" name="Content Placeholder 2"/>
          <p:cNvSpPr>
            <a:spLocks noGrp="1"/>
          </p:cNvSpPr>
          <p:nvPr>
            <p:ph idx="1"/>
          </p:nvPr>
        </p:nvSpPr>
        <p:spPr/>
        <p:txBody>
          <a:bodyPr/>
          <a:lstStyle/>
          <a:p>
            <a:pPr lvl="1"/>
            <a:r>
              <a:rPr lang="en-US" dirty="0"/>
              <a:t>WACC = (R</a:t>
            </a:r>
            <a:r>
              <a:rPr lang="en-US" baseline="-25000" dirty="0"/>
              <a:t>e</a:t>
            </a:r>
            <a:r>
              <a:rPr lang="en-US" dirty="0"/>
              <a:t>) * (E / V) + (R</a:t>
            </a:r>
            <a:r>
              <a:rPr lang="en-US" baseline="-25000" dirty="0"/>
              <a:t>d</a:t>
            </a:r>
            <a:r>
              <a:rPr lang="en-US" dirty="0"/>
              <a:t>) * (1 – T) * (D / V)</a:t>
            </a:r>
          </a:p>
          <a:p>
            <a:pPr lvl="1"/>
            <a:r>
              <a:rPr lang="en-US" dirty="0"/>
              <a:t>R</a:t>
            </a:r>
            <a:r>
              <a:rPr lang="en-US" baseline="-25000" dirty="0"/>
              <a:t>e</a:t>
            </a:r>
            <a:r>
              <a:rPr lang="en-US" dirty="0"/>
              <a:t> = cost of equity</a:t>
            </a:r>
          </a:p>
          <a:p>
            <a:pPr lvl="1"/>
            <a:r>
              <a:rPr lang="en-US" dirty="0"/>
              <a:t>R</a:t>
            </a:r>
            <a:r>
              <a:rPr lang="en-US" baseline="-25000" dirty="0"/>
              <a:t>d</a:t>
            </a:r>
            <a:r>
              <a:rPr lang="en-US" dirty="0"/>
              <a:t> = cost of debt</a:t>
            </a:r>
          </a:p>
          <a:p>
            <a:pPr lvl="1"/>
            <a:r>
              <a:rPr lang="en-US" dirty="0"/>
              <a:t>E = market value of firm’s equity</a:t>
            </a:r>
          </a:p>
          <a:p>
            <a:pPr lvl="1"/>
            <a:r>
              <a:rPr lang="en-US" dirty="0"/>
              <a:t>D = market value of firm’s debt</a:t>
            </a:r>
          </a:p>
          <a:p>
            <a:pPr lvl="1"/>
            <a:r>
              <a:rPr lang="en-US" dirty="0"/>
              <a:t>V = E + D</a:t>
            </a:r>
          </a:p>
          <a:p>
            <a:pPr lvl="1"/>
            <a:r>
              <a:rPr lang="en-US" dirty="0"/>
              <a:t>E / V = % of financing that is equity</a:t>
            </a:r>
          </a:p>
          <a:p>
            <a:pPr lvl="1"/>
            <a:r>
              <a:rPr lang="en-US" dirty="0"/>
              <a:t>D / V = % of financing that is debt</a:t>
            </a:r>
          </a:p>
          <a:p>
            <a:pPr lvl="1"/>
            <a:r>
              <a:rPr lang="en-US" dirty="0"/>
              <a:t>T = tax rate</a:t>
            </a:r>
          </a:p>
          <a:p>
            <a:endParaRPr lang="en-US" dirty="0"/>
          </a:p>
        </p:txBody>
      </p:sp>
    </p:spTree>
    <p:extLst>
      <p:ext uri="{BB962C8B-B14F-4D97-AF65-F5344CB8AC3E}">
        <p14:creationId xmlns:p14="http://schemas.microsoft.com/office/powerpoint/2010/main" val="2265976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WACC</a:t>
            </a:r>
          </a:p>
        </p:txBody>
      </p:sp>
      <p:sp>
        <p:nvSpPr>
          <p:cNvPr id="3" name="Content Placeholder 2"/>
          <p:cNvSpPr>
            <a:spLocks noGrp="1"/>
          </p:cNvSpPr>
          <p:nvPr>
            <p:ph idx="1"/>
          </p:nvPr>
        </p:nvSpPr>
        <p:spPr/>
        <p:txBody>
          <a:bodyPr/>
          <a:lstStyle/>
          <a:p>
            <a:r>
              <a:rPr lang="en-US" dirty="0"/>
              <a:t>The template uses the CAPM (Capital Asset Pricing Model) to calculate the cost of equity for the WACC calculation</a:t>
            </a:r>
          </a:p>
          <a:p>
            <a:pPr lvl="1"/>
            <a:r>
              <a:rPr lang="en-US" dirty="0"/>
              <a:t>The CAPM equation:</a:t>
            </a:r>
          </a:p>
          <a:p>
            <a:pPr lvl="1"/>
            <a:r>
              <a:rPr lang="en-US" dirty="0"/>
              <a:t>R</a:t>
            </a:r>
            <a:r>
              <a:rPr lang="en-US" baseline="-25000" dirty="0"/>
              <a:t>e</a:t>
            </a:r>
            <a:r>
              <a:rPr lang="en-US" dirty="0"/>
              <a:t> = </a:t>
            </a:r>
            <a:r>
              <a:rPr lang="en-US" dirty="0" err="1"/>
              <a:t>Rf</a:t>
            </a:r>
            <a:r>
              <a:rPr lang="en-US" dirty="0"/>
              <a:t> + </a:t>
            </a:r>
            <a:r>
              <a:rPr lang="el-GR" dirty="0"/>
              <a:t>β</a:t>
            </a:r>
            <a:r>
              <a:rPr lang="en-US" dirty="0"/>
              <a:t> x (R</a:t>
            </a:r>
            <a:r>
              <a:rPr lang="en-US" baseline="-25000" dirty="0"/>
              <a:t>m</a:t>
            </a:r>
            <a:r>
              <a:rPr lang="en-US" dirty="0"/>
              <a:t> – </a:t>
            </a:r>
            <a:r>
              <a:rPr lang="en-US" dirty="0" err="1"/>
              <a:t>R</a:t>
            </a:r>
            <a:r>
              <a:rPr lang="en-US" baseline="-25000" dirty="0" err="1"/>
              <a:t>f</a:t>
            </a:r>
            <a:r>
              <a:rPr lang="en-US" dirty="0"/>
              <a:t>)</a:t>
            </a:r>
          </a:p>
          <a:p>
            <a:pPr lvl="1"/>
            <a:r>
              <a:rPr lang="en-US" dirty="0" err="1"/>
              <a:t>R</a:t>
            </a:r>
            <a:r>
              <a:rPr lang="en-US" baseline="-25000" dirty="0" err="1"/>
              <a:t>f</a:t>
            </a:r>
            <a:r>
              <a:rPr lang="en-US" dirty="0"/>
              <a:t> = risk-free rate (usually 10-yr Treasury)</a:t>
            </a:r>
          </a:p>
          <a:p>
            <a:pPr lvl="1"/>
            <a:r>
              <a:rPr lang="el-GR" dirty="0"/>
              <a:t>β</a:t>
            </a:r>
            <a:r>
              <a:rPr lang="en-US" dirty="0"/>
              <a:t> = equity beta</a:t>
            </a:r>
          </a:p>
          <a:p>
            <a:pPr lvl="1"/>
            <a:r>
              <a:rPr lang="en-US" dirty="0"/>
              <a:t>(R</a:t>
            </a:r>
            <a:r>
              <a:rPr lang="en-US" baseline="-25000" dirty="0"/>
              <a:t>m</a:t>
            </a:r>
            <a:r>
              <a:rPr lang="en-US" dirty="0"/>
              <a:t> – </a:t>
            </a:r>
            <a:r>
              <a:rPr lang="en-US" dirty="0" err="1"/>
              <a:t>R</a:t>
            </a:r>
            <a:r>
              <a:rPr lang="en-US" baseline="-25000" dirty="0" err="1"/>
              <a:t>f</a:t>
            </a:r>
            <a:r>
              <a:rPr lang="en-US" dirty="0"/>
              <a:t>) = market risk premium</a:t>
            </a:r>
          </a:p>
          <a:p>
            <a:r>
              <a:rPr lang="en-US" dirty="0"/>
              <a:t>Beta is the measure of volatility of a stock’s return relative to the equity returns of the overall market; a beta over 1.0 means the stock’s returns are more volatile than the market’s returns</a:t>
            </a:r>
          </a:p>
        </p:txBody>
      </p:sp>
    </p:spTree>
    <p:extLst>
      <p:ext uri="{BB962C8B-B14F-4D97-AF65-F5344CB8AC3E}">
        <p14:creationId xmlns:p14="http://schemas.microsoft.com/office/powerpoint/2010/main" val="21545363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97873" y="2206005"/>
            <a:ext cx="6096000" cy="3127995"/>
          </a:xfrm>
          <a:prstGeom prst="rect">
            <a:avLst/>
          </a:prstGeom>
        </p:spPr>
      </p:pic>
      <p:sp>
        <p:nvSpPr>
          <p:cNvPr id="2" name="Title 1"/>
          <p:cNvSpPr>
            <a:spLocks noGrp="1"/>
          </p:cNvSpPr>
          <p:nvPr>
            <p:ph type="title"/>
          </p:nvPr>
        </p:nvSpPr>
        <p:spPr/>
        <p:txBody>
          <a:bodyPr/>
          <a:lstStyle/>
          <a:p>
            <a:r>
              <a:rPr lang="en-US" dirty="0"/>
              <a:t>WACC</a:t>
            </a:r>
          </a:p>
        </p:txBody>
      </p:sp>
      <p:sp>
        <p:nvSpPr>
          <p:cNvPr id="4" name="Content Placeholder 3"/>
          <p:cNvSpPr>
            <a:spLocks noGrp="1"/>
          </p:cNvSpPr>
          <p:nvPr>
            <p:ph idx="1"/>
          </p:nvPr>
        </p:nvSpPr>
        <p:spPr>
          <a:xfrm>
            <a:off x="6324600" y="1600200"/>
            <a:ext cx="2362200" cy="4876800"/>
          </a:xfrm>
        </p:spPr>
        <p:txBody>
          <a:bodyPr/>
          <a:lstStyle/>
          <a:p>
            <a:r>
              <a:rPr lang="en-US" dirty="0"/>
              <a:t>These two should equal – the second set is calculating Equity and Debt separately</a:t>
            </a:r>
          </a:p>
        </p:txBody>
      </p:sp>
      <p:cxnSp>
        <p:nvCxnSpPr>
          <p:cNvPr id="6" name="Straight Arrow Connector 5"/>
          <p:cNvCxnSpPr/>
          <p:nvPr/>
        </p:nvCxnSpPr>
        <p:spPr>
          <a:xfrm flipH="1">
            <a:off x="2514600" y="2057400"/>
            <a:ext cx="3886200" cy="3200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5867400" y="2057400"/>
            <a:ext cx="685800" cy="3200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538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Model Template - Discounted Cash Flow Model</a:t>
            </a:r>
          </a:p>
        </p:txBody>
      </p:sp>
      <p:sp>
        <p:nvSpPr>
          <p:cNvPr id="3" name="Content Placeholder 2"/>
          <p:cNvSpPr>
            <a:spLocks noGrp="1"/>
          </p:cNvSpPr>
          <p:nvPr>
            <p:ph idx="1"/>
          </p:nvPr>
        </p:nvSpPr>
        <p:spPr>
          <a:xfrm>
            <a:off x="6019800" y="1600200"/>
            <a:ext cx="2667000" cy="4876800"/>
          </a:xfrm>
        </p:spPr>
        <p:txBody>
          <a:bodyPr>
            <a:normAutofit fontScale="85000" lnSpcReduction="20000"/>
          </a:bodyPr>
          <a:lstStyle/>
          <a:p>
            <a:r>
              <a:rPr lang="en-US" dirty="0"/>
              <a:t>Uses future free cash flow projections and discounts them (usually the WACC) to get the PV</a:t>
            </a:r>
          </a:p>
          <a:p>
            <a:pPr lvl="1"/>
            <a:r>
              <a:rPr lang="en-US" dirty="0"/>
              <a:t>Will only work if you have good assumptions for your inputs (garbage in, garbage out)</a:t>
            </a:r>
          </a:p>
          <a:p>
            <a:pPr lvl="1"/>
            <a:r>
              <a:rPr lang="en-US" dirty="0"/>
              <a:t>Forecast out a few years, cash flows are harder to estimate the longer the time frame</a:t>
            </a:r>
          </a:p>
          <a:p>
            <a:pPr lvl="1"/>
            <a:r>
              <a:rPr lang="en-US" dirty="0"/>
              <a:t>FCF = Cash flows from Operations – Capital Expenditure</a:t>
            </a:r>
          </a:p>
          <a:p>
            <a:pPr lvl="1"/>
            <a:endParaRPr lang="en-US" dirty="0"/>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582" y="1752600"/>
            <a:ext cx="563880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3879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Valuation – DCF Model – Base Case</a:t>
            </a:r>
          </a:p>
        </p:txBody>
      </p:sp>
      <p:pic>
        <p:nvPicPr>
          <p:cNvPr id="3" name="Picture 2"/>
          <p:cNvPicPr>
            <a:picLocks noChangeAspect="1"/>
          </p:cNvPicPr>
          <p:nvPr/>
        </p:nvPicPr>
        <p:blipFill>
          <a:blip r:embed="rId2"/>
          <a:stretch>
            <a:fillRect/>
          </a:stretch>
        </p:blipFill>
        <p:spPr>
          <a:xfrm>
            <a:off x="20782" y="1371600"/>
            <a:ext cx="9144000" cy="5385646"/>
          </a:xfrm>
          <a:prstGeom prst="rect">
            <a:avLst/>
          </a:prstGeom>
        </p:spPr>
      </p:pic>
    </p:spTree>
    <p:extLst>
      <p:ext uri="{BB962C8B-B14F-4D97-AF65-F5344CB8AC3E}">
        <p14:creationId xmlns:p14="http://schemas.microsoft.com/office/powerpoint/2010/main" val="495074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DuPont ROE Calculations</a:t>
            </a:r>
          </a:p>
        </p:txBody>
      </p:sp>
      <p:sp>
        <p:nvSpPr>
          <p:cNvPr id="4" name="Content Placeholder 2"/>
          <p:cNvSpPr>
            <a:spLocks noGrp="1"/>
          </p:cNvSpPr>
          <p:nvPr>
            <p:ph idx="1"/>
          </p:nvPr>
        </p:nvSpPr>
        <p:spPr>
          <a:xfrm>
            <a:off x="457200" y="1600200"/>
            <a:ext cx="8229600" cy="4876800"/>
          </a:xfrm>
        </p:spPr>
        <p:txBody>
          <a:bodyPr/>
          <a:lstStyle/>
          <a:p>
            <a:r>
              <a:rPr lang="en-US" dirty="0"/>
              <a:t>A firm’s growth rate is a function of its earnings retention and its return on equity, all else being equal.</a:t>
            </a:r>
          </a:p>
          <a:p>
            <a:r>
              <a:rPr lang="en-US" dirty="0"/>
              <a:t>In certain situations you may not have all the financial statement data needed to calculation ROE, for instance you may only have access to the following;</a:t>
            </a:r>
          </a:p>
          <a:p>
            <a:pPr lvl="1">
              <a:buFont typeface="Wingdings" panose="05000000000000000000" pitchFamily="2" charset="2"/>
              <a:buChar char="§"/>
            </a:pPr>
            <a:r>
              <a:rPr lang="en-US" dirty="0"/>
              <a:t>Net Profit Margin</a:t>
            </a:r>
          </a:p>
          <a:p>
            <a:pPr lvl="1">
              <a:buFont typeface="Wingdings" panose="05000000000000000000" pitchFamily="2" charset="2"/>
              <a:buChar char="§"/>
            </a:pPr>
            <a:r>
              <a:rPr lang="en-US" dirty="0"/>
              <a:t>Total Asset Turnover</a:t>
            </a:r>
          </a:p>
          <a:p>
            <a:pPr lvl="1">
              <a:buFont typeface="Wingdings" panose="05000000000000000000" pitchFamily="2" charset="2"/>
              <a:buChar char="§"/>
            </a:pPr>
            <a:r>
              <a:rPr lang="en-US" dirty="0"/>
              <a:t>Financial Leverage Ratio</a:t>
            </a:r>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343936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DuPont ROE Calculations</a:t>
            </a:r>
          </a:p>
        </p:txBody>
      </p:sp>
      <p:sp>
        <p:nvSpPr>
          <p:cNvPr id="4" name="Content Placeholder 2"/>
          <p:cNvSpPr>
            <a:spLocks noGrp="1"/>
          </p:cNvSpPr>
          <p:nvPr>
            <p:ph idx="1"/>
          </p:nvPr>
        </p:nvSpPr>
        <p:spPr>
          <a:xfrm>
            <a:off x="457200" y="1600200"/>
            <a:ext cx="8229600" cy="4876800"/>
          </a:xfrm>
        </p:spPr>
        <p:txBody>
          <a:bodyPr/>
          <a:lstStyle/>
          <a:p>
            <a:r>
              <a:rPr lang="en-US" dirty="0"/>
              <a:t>Why would you ever use this much longer method to calculate ROE?</a:t>
            </a:r>
          </a:p>
          <a:p>
            <a:r>
              <a:rPr lang="en-US" dirty="0"/>
              <a:t>It is important to understand the underlying drivers of ROE and what is really contributing to the calculation.</a:t>
            </a:r>
          </a:p>
          <a:p>
            <a:r>
              <a:rPr lang="en-US" dirty="0"/>
              <a:t>Is ROE mostly coming from Net profits?</a:t>
            </a:r>
          </a:p>
          <a:p>
            <a:r>
              <a:rPr lang="en-US" dirty="0"/>
              <a:t>Or from High Asset Turnover?</a:t>
            </a:r>
          </a:p>
          <a:p>
            <a:r>
              <a:rPr lang="en-US" dirty="0"/>
              <a:t>Or from using a high degree of leverage?</a:t>
            </a:r>
          </a:p>
          <a:p>
            <a:r>
              <a:rPr lang="en-US" dirty="0"/>
              <a:t>Formula:</a:t>
            </a:r>
            <a:br>
              <a:rPr lang="en-US" dirty="0"/>
            </a:br>
            <a:r>
              <a:rPr lang="en-US" sz="1600" dirty="0"/>
              <a:t>DuPont ROE = Net Profit Margin  *  Total Asset Turnover  *  Financial Leverage Ratio</a:t>
            </a:r>
          </a:p>
          <a:p>
            <a:endParaRPr lang="en-US" dirty="0"/>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34027691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Sustainable Growth Rate</a:t>
            </a:r>
          </a:p>
        </p:txBody>
      </p:sp>
      <p:sp>
        <p:nvSpPr>
          <p:cNvPr id="4" name="Content Placeholder 2"/>
          <p:cNvSpPr>
            <a:spLocks noGrp="1"/>
          </p:cNvSpPr>
          <p:nvPr>
            <p:ph idx="1"/>
          </p:nvPr>
        </p:nvSpPr>
        <p:spPr>
          <a:xfrm>
            <a:off x="457200" y="1600200"/>
            <a:ext cx="8229600" cy="4876800"/>
          </a:xfrm>
        </p:spPr>
        <p:txBody>
          <a:bodyPr/>
          <a:lstStyle/>
          <a:p>
            <a:r>
              <a:rPr lang="en-US" dirty="0"/>
              <a:t>The Sustainable Growth Rate (SGR) is the growth rate that we use for calculating the terminal value of an asset.</a:t>
            </a:r>
          </a:p>
          <a:p>
            <a:r>
              <a:rPr lang="en-US" dirty="0"/>
              <a:t>As previously discussed, this number should effectively never exceed long run GDP.</a:t>
            </a:r>
          </a:p>
          <a:p>
            <a:r>
              <a:rPr lang="en-US" dirty="0"/>
              <a:t>This rate is the rate at which earnings (and dividends) can continue to grow </a:t>
            </a:r>
            <a:r>
              <a:rPr lang="en-US" u="sng" dirty="0"/>
              <a:t>indefinitely</a:t>
            </a:r>
            <a:r>
              <a:rPr lang="en-US" dirty="0"/>
              <a:t> assuming that the firm maintains the same debt-to-equity ratio and that the firm doesn’t issue new equity.</a:t>
            </a:r>
          </a:p>
          <a:p>
            <a:r>
              <a:rPr lang="en-US" dirty="0"/>
              <a:t>SGR is very important because it also tells us how quickly a firm can grow with internally generated funds.</a:t>
            </a:r>
          </a:p>
        </p:txBody>
      </p:sp>
    </p:spTree>
    <p:extLst>
      <p:ext uri="{BB962C8B-B14F-4D97-AF65-F5344CB8AC3E}">
        <p14:creationId xmlns:p14="http://schemas.microsoft.com/office/powerpoint/2010/main" val="17512314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SGR Calculations</a:t>
            </a:r>
          </a:p>
        </p:txBody>
      </p:sp>
      <p:sp>
        <p:nvSpPr>
          <p:cNvPr id="4" name="Content Placeholder 2"/>
          <p:cNvSpPr>
            <a:spLocks noGrp="1"/>
          </p:cNvSpPr>
          <p:nvPr>
            <p:ph idx="1"/>
          </p:nvPr>
        </p:nvSpPr>
        <p:spPr>
          <a:xfrm>
            <a:off x="457200" y="1600200"/>
            <a:ext cx="8229600" cy="4876800"/>
          </a:xfrm>
        </p:spPr>
        <p:txBody>
          <a:bodyPr/>
          <a:lstStyle/>
          <a:p>
            <a:r>
              <a:rPr lang="en-US" dirty="0"/>
              <a:t>SGR for internal growth analysis = Earnings Retention Rate * ROE</a:t>
            </a:r>
            <a:br>
              <a:rPr lang="en-US" dirty="0"/>
            </a:br>
            <a:endParaRPr lang="en-US" dirty="0"/>
          </a:p>
          <a:p>
            <a:r>
              <a:rPr lang="en-US" dirty="0"/>
              <a:t>SGR for terminal value calculation = MAX(3.5%, SGR)</a:t>
            </a:r>
            <a:br>
              <a:rPr lang="en-US" dirty="0"/>
            </a:br>
            <a:endParaRPr lang="en-US" dirty="0"/>
          </a:p>
          <a:p>
            <a:r>
              <a:rPr lang="en-US" dirty="0"/>
              <a:t>Earnings Retention Rate = 1 – (DPS / EPS)</a:t>
            </a:r>
            <a:br>
              <a:rPr lang="en-US" dirty="0"/>
            </a:br>
            <a:endParaRPr lang="en-US" dirty="0"/>
          </a:p>
          <a:p>
            <a:r>
              <a:rPr lang="en-US" dirty="0"/>
              <a:t>As a general rule of thumb, when SGR is used in the terminal value calculation of an asset it should hardly ever exceed 3.5%.</a:t>
            </a:r>
            <a:br>
              <a:rPr lang="en-US" dirty="0"/>
            </a:br>
            <a:endParaRPr lang="en-US" dirty="0"/>
          </a:p>
        </p:txBody>
      </p:sp>
    </p:spTree>
    <p:extLst>
      <p:ext uri="{BB962C8B-B14F-4D97-AF65-F5344CB8AC3E}">
        <p14:creationId xmlns:p14="http://schemas.microsoft.com/office/powerpoint/2010/main" val="23817915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DuPont ROE &amp; SGR Calculations</a:t>
            </a:r>
          </a:p>
        </p:txBody>
      </p:sp>
      <p:pic>
        <p:nvPicPr>
          <p:cNvPr id="5" name="Content Placeholder 4"/>
          <p:cNvPicPr>
            <a:picLocks noGrp="1" noChangeAspect="1"/>
          </p:cNvPicPr>
          <p:nvPr>
            <p:ph idx="1"/>
          </p:nvPr>
        </p:nvPicPr>
        <p:blipFill>
          <a:blip r:embed="rId2"/>
          <a:stretch>
            <a:fillRect/>
          </a:stretch>
        </p:blipFill>
        <p:spPr>
          <a:xfrm>
            <a:off x="457200" y="2958722"/>
            <a:ext cx="6008417" cy="1537078"/>
          </a:xfrm>
          <a:prstGeom prst="rect">
            <a:avLst/>
          </a:prstGeom>
        </p:spPr>
      </p:pic>
      <p:sp>
        <p:nvSpPr>
          <p:cNvPr id="6" name="Content Placeholder 2"/>
          <p:cNvSpPr txBox="1">
            <a:spLocks/>
          </p:cNvSpPr>
          <p:nvPr/>
        </p:nvSpPr>
        <p:spPr>
          <a:xfrm>
            <a:off x="457200" y="1371600"/>
            <a:ext cx="8229600" cy="2425322"/>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None/>
            </a:pPr>
            <a:r>
              <a:rPr lang="en-US" dirty="0"/>
              <a:t>Retrieve the following line items from their respective financial statements. Be sure to use the net income from continuing operations.</a:t>
            </a:r>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17790236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DuPont ROE &amp; SGR Calculations</a:t>
            </a:r>
          </a:p>
        </p:txBody>
      </p:sp>
      <p:sp>
        <p:nvSpPr>
          <p:cNvPr id="6" name="Content Placeholder 2"/>
          <p:cNvSpPr txBox="1">
            <a:spLocks/>
          </p:cNvSpPr>
          <p:nvPr/>
        </p:nvSpPr>
        <p:spPr>
          <a:xfrm>
            <a:off x="7315200" y="2743200"/>
            <a:ext cx="1187570" cy="124507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None/>
            </a:pPr>
            <a:r>
              <a:rPr lang="en-US" sz="1800" dirty="0"/>
              <a:t>Calculate the EPS and DPS values</a:t>
            </a:r>
          </a:p>
        </p:txBody>
      </p:sp>
      <p:pic>
        <p:nvPicPr>
          <p:cNvPr id="4" name="Content Placeholder 3"/>
          <p:cNvPicPr>
            <a:picLocks noGrp="1" noChangeAspect="1"/>
          </p:cNvPicPr>
          <p:nvPr>
            <p:ph idx="1"/>
          </p:nvPr>
        </p:nvPicPr>
        <p:blipFill>
          <a:blip r:embed="rId2"/>
          <a:stretch>
            <a:fillRect/>
          </a:stretch>
        </p:blipFill>
        <p:spPr>
          <a:xfrm>
            <a:off x="457200" y="1447800"/>
            <a:ext cx="6008417" cy="3048750"/>
          </a:xfrm>
          <a:prstGeom prst="rect">
            <a:avLst/>
          </a:prstGeom>
        </p:spPr>
      </p:pic>
      <p:cxnSp>
        <p:nvCxnSpPr>
          <p:cNvPr id="8" name="Straight Arrow Connector 7"/>
          <p:cNvCxnSpPr>
            <a:stCxn id="6" idx="1"/>
          </p:cNvCxnSpPr>
          <p:nvPr/>
        </p:nvCxnSpPr>
        <p:spPr>
          <a:xfrm flipH="1" flipV="1">
            <a:off x="6465617" y="3352800"/>
            <a:ext cx="849583" cy="12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2"/>
          <p:cNvSpPr txBox="1">
            <a:spLocks/>
          </p:cNvSpPr>
          <p:nvPr/>
        </p:nvSpPr>
        <p:spPr>
          <a:xfrm>
            <a:off x="1794416" y="5440003"/>
            <a:ext cx="3517362" cy="6858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None/>
            </a:pPr>
            <a:r>
              <a:rPr lang="en-US" sz="1800" dirty="0"/>
              <a:t>Calculate the ratios needed for the DuPont ROE Calculation</a:t>
            </a:r>
          </a:p>
        </p:txBody>
      </p:sp>
      <p:sp>
        <p:nvSpPr>
          <p:cNvPr id="10" name="Rounded Rectangle 9"/>
          <p:cNvSpPr/>
          <p:nvPr/>
        </p:nvSpPr>
        <p:spPr>
          <a:xfrm>
            <a:off x="428897" y="3701991"/>
            <a:ext cx="6248400" cy="838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9" idx="0"/>
            <a:endCxn id="10" idx="2"/>
          </p:cNvCxnSpPr>
          <p:nvPr/>
        </p:nvCxnSpPr>
        <p:spPr>
          <a:xfrm flipV="1">
            <a:off x="3553097" y="4540191"/>
            <a:ext cx="0" cy="899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4762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DuPont ROE &amp; SGR Calculations</a:t>
            </a:r>
          </a:p>
        </p:txBody>
      </p:sp>
      <p:pic>
        <p:nvPicPr>
          <p:cNvPr id="5" name="Picture 4"/>
          <p:cNvPicPr>
            <a:picLocks noChangeAspect="1"/>
          </p:cNvPicPr>
          <p:nvPr/>
        </p:nvPicPr>
        <p:blipFill>
          <a:blip r:embed="rId2"/>
          <a:stretch>
            <a:fillRect/>
          </a:stretch>
        </p:blipFill>
        <p:spPr>
          <a:xfrm>
            <a:off x="457200" y="1480457"/>
            <a:ext cx="6008417" cy="3696610"/>
          </a:xfrm>
          <a:prstGeom prst="rect">
            <a:avLst/>
          </a:prstGeom>
        </p:spPr>
      </p:pic>
      <p:sp>
        <p:nvSpPr>
          <p:cNvPr id="11" name="Content Placeholder 2"/>
          <p:cNvSpPr txBox="1">
            <a:spLocks/>
          </p:cNvSpPr>
          <p:nvPr/>
        </p:nvSpPr>
        <p:spPr>
          <a:xfrm>
            <a:off x="1371600" y="5764557"/>
            <a:ext cx="4453984" cy="719134"/>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ctr">
              <a:buNone/>
            </a:pPr>
            <a:r>
              <a:rPr lang="en-US" sz="1800" dirty="0"/>
              <a:t>Using the formula’s on the previous slides and calculate the ROE and SGR</a:t>
            </a:r>
          </a:p>
        </p:txBody>
      </p:sp>
      <p:sp>
        <p:nvSpPr>
          <p:cNvPr id="17" name="Rounded Rectangle 16"/>
          <p:cNvSpPr/>
          <p:nvPr/>
        </p:nvSpPr>
        <p:spPr>
          <a:xfrm>
            <a:off x="304800" y="4572000"/>
            <a:ext cx="6400800" cy="7620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a:stCxn id="11" idx="0"/>
            <a:endCxn id="17" idx="2"/>
          </p:cNvCxnSpPr>
          <p:nvPr/>
        </p:nvCxnSpPr>
        <p:spPr>
          <a:xfrm flipH="1" flipV="1">
            <a:off x="3505200" y="5334000"/>
            <a:ext cx="93392" cy="4305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1602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Multi-Stage Valuation – DDM</a:t>
            </a:r>
          </a:p>
        </p:txBody>
      </p:sp>
      <p:sp>
        <p:nvSpPr>
          <p:cNvPr id="9" name="Content Placeholder 2"/>
          <p:cNvSpPr>
            <a:spLocks noGrp="1"/>
          </p:cNvSpPr>
          <p:nvPr>
            <p:ph idx="1"/>
          </p:nvPr>
        </p:nvSpPr>
        <p:spPr>
          <a:xfrm>
            <a:off x="457200" y="1600200"/>
            <a:ext cx="8229600" cy="4876800"/>
          </a:xfrm>
        </p:spPr>
        <p:txBody>
          <a:bodyPr/>
          <a:lstStyle/>
          <a:p>
            <a:r>
              <a:rPr lang="en-US" dirty="0"/>
              <a:t>In some instances we might expect a firm to go through multiple growth cycles over the next few periods.</a:t>
            </a:r>
          </a:p>
          <a:p>
            <a:r>
              <a:rPr lang="en-US" dirty="0"/>
              <a:t>This same type of valuation can be done with all models we have covered but for simplicity we will only review it for the DDM case.</a:t>
            </a:r>
          </a:p>
          <a:p>
            <a:r>
              <a:rPr lang="en-US" dirty="0"/>
              <a:t>This type of DDM valuation could be used when you expect the firm to grow their dividend substantially over the short term before coming to down to some longer term average.</a:t>
            </a:r>
          </a:p>
        </p:txBody>
      </p:sp>
    </p:spTree>
    <p:extLst>
      <p:ext uri="{BB962C8B-B14F-4D97-AF65-F5344CB8AC3E}">
        <p14:creationId xmlns:p14="http://schemas.microsoft.com/office/powerpoint/2010/main" val="12633973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Multi-Stage Valuation – DDM</a:t>
            </a:r>
          </a:p>
        </p:txBody>
      </p:sp>
      <p:sp>
        <p:nvSpPr>
          <p:cNvPr id="9" name="Content Placeholder 2"/>
          <p:cNvSpPr>
            <a:spLocks noGrp="1"/>
          </p:cNvSpPr>
          <p:nvPr>
            <p:ph idx="1"/>
          </p:nvPr>
        </p:nvSpPr>
        <p:spPr>
          <a:xfrm>
            <a:off x="457200" y="1600200"/>
            <a:ext cx="8229600" cy="4876800"/>
          </a:xfrm>
        </p:spPr>
        <p:txBody>
          <a:bodyPr/>
          <a:lstStyle/>
          <a:p>
            <a:r>
              <a:rPr lang="en-US" dirty="0"/>
              <a:t>Calculate the value of a firm with the following characteristics;</a:t>
            </a:r>
          </a:p>
          <a:p>
            <a:pPr lvl="1">
              <a:buFont typeface="Wingdings" panose="05000000000000000000" pitchFamily="2" charset="2"/>
              <a:buChar char="§"/>
            </a:pPr>
            <a:r>
              <a:rPr lang="en-US" dirty="0"/>
              <a:t>Last Annualized Dividend: $1.25</a:t>
            </a:r>
          </a:p>
          <a:p>
            <a:pPr lvl="1">
              <a:buFont typeface="Wingdings" panose="05000000000000000000" pitchFamily="2" charset="2"/>
              <a:buChar char="§"/>
            </a:pPr>
            <a:r>
              <a:rPr lang="en-US" dirty="0"/>
              <a:t>Stage 1 Dividend Growth Rate: 4.0%</a:t>
            </a:r>
          </a:p>
          <a:p>
            <a:pPr lvl="1">
              <a:buFont typeface="Wingdings" panose="05000000000000000000" pitchFamily="2" charset="2"/>
              <a:buChar char="§"/>
            </a:pPr>
            <a:r>
              <a:rPr lang="en-US" dirty="0"/>
              <a:t>Stage 2 Dividend Growth Rate : 1.5%</a:t>
            </a:r>
          </a:p>
          <a:p>
            <a:pPr lvl="1">
              <a:buFont typeface="Wingdings" panose="05000000000000000000" pitchFamily="2" charset="2"/>
              <a:buChar char="§"/>
            </a:pPr>
            <a:r>
              <a:rPr lang="en-US" dirty="0"/>
              <a:t>Terminal Growth Rate: 1.0%</a:t>
            </a:r>
          </a:p>
          <a:p>
            <a:pPr lvl="1">
              <a:buFont typeface="Wingdings" panose="05000000000000000000" pitchFamily="2" charset="2"/>
              <a:buChar char="§"/>
            </a:pPr>
            <a:r>
              <a:rPr lang="en-US" dirty="0"/>
              <a:t>Discount Rate: 5.0%</a:t>
            </a:r>
          </a:p>
          <a:p>
            <a:pPr lvl="1">
              <a:buFont typeface="Wingdings" panose="05000000000000000000" pitchFamily="2" charset="2"/>
              <a:buChar char="§"/>
            </a:pPr>
            <a:r>
              <a:rPr lang="en-US" dirty="0"/>
              <a:t>Current Market Price: $38.50</a:t>
            </a:r>
          </a:p>
          <a:p>
            <a:r>
              <a:rPr lang="en-US" dirty="0"/>
              <a:t>Is the firm over or under valued? By how much? What is the expected return?</a:t>
            </a:r>
          </a:p>
        </p:txBody>
      </p:sp>
    </p:spTree>
    <p:extLst>
      <p:ext uri="{BB962C8B-B14F-4D97-AF65-F5344CB8AC3E}">
        <p14:creationId xmlns:p14="http://schemas.microsoft.com/office/powerpoint/2010/main" val="6184165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Economic Value Added</a:t>
            </a:r>
          </a:p>
        </p:txBody>
      </p:sp>
      <p:sp>
        <p:nvSpPr>
          <p:cNvPr id="3" name="Content Placeholder 2"/>
          <p:cNvSpPr>
            <a:spLocks noGrp="1"/>
          </p:cNvSpPr>
          <p:nvPr>
            <p:ph idx="1"/>
          </p:nvPr>
        </p:nvSpPr>
        <p:spPr/>
        <p:txBody>
          <a:bodyPr/>
          <a:lstStyle/>
          <a:p>
            <a:r>
              <a:rPr lang="en-US" dirty="0"/>
              <a:t>Economic Value Added (EVA) is a measurement of the value added for shareholders by management during a given year.</a:t>
            </a:r>
          </a:p>
          <a:p>
            <a:r>
              <a:rPr lang="en-US" dirty="0"/>
              <a:t>This is somewhat similar to Residual Income which will be covered later but does not remove the interest and tax expense the firm incurs, as such it is a slightly more aggressive measure of overall firm health.</a:t>
            </a:r>
          </a:p>
          <a:p>
            <a:r>
              <a:rPr lang="en-US" dirty="0"/>
              <a:t>Formula:</a:t>
            </a:r>
            <a:br>
              <a:rPr lang="en-US" dirty="0"/>
            </a:br>
            <a:r>
              <a:rPr lang="en-US" dirty="0"/>
              <a:t>	EVA = (EBIT * (1 – TR)) – (WACC * Invested Capital)</a:t>
            </a:r>
            <a:br>
              <a:rPr lang="en-US" dirty="0"/>
            </a:br>
            <a:r>
              <a:rPr lang="en-US" dirty="0"/>
              <a:t>	Invested Capital = Book Value of LT Debt + Book 			        Value of Equity</a:t>
            </a:r>
          </a:p>
        </p:txBody>
      </p:sp>
    </p:spTree>
    <p:extLst>
      <p:ext uri="{BB962C8B-B14F-4D97-AF65-F5344CB8AC3E}">
        <p14:creationId xmlns:p14="http://schemas.microsoft.com/office/powerpoint/2010/main" val="19075732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Economic Value Added</a:t>
            </a:r>
          </a:p>
        </p:txBody>
      </p:sp>
      <p:sp>
        <p:nvSpPr>
          <p:cNvPr id="3" name="Content Placeholder 2"/>
          <p:cNvSpPr>
            <a:spLocks noGrp="1"/>
          </p:cNvSpPr>
          <p:nvPr>
            <p:ph idx="1"/>
          </p:nvPr>
        </p:nvSpPr>
        <p:spPr/>
        <p:txBody>
          <a:bodyPr/>
          <a:lstStyle/>
          <a:p>
            <a:r>
              <a:rPr lang="en-US" dirty="0"/>
              <a:t>This measure, along with residual income, forecasted earnings, etc. can all be plugged into the typical Present Value of </a:t>
            </a:r>
            <a:r>
              <a:rPr lang="en-US" dirty="0" err="1"/>
              <a:t>Cashflows</a:t>
            </a:r>
            <a:r>
              <a:rPr lang="en-US" dirty="0"/>
              <a:t> model to generate a forecasted price for the security. </a:t>
            </a:r>
          </a:p>
        </p:txBody>
      </p:sp>
    </p:spTree>
    <p:extLst>
      <p:ext uri="{BB962C8B-B14F-4D97-AF65-F5344CB8AC3E}">
        <p14:creationId xmlns:p14="http://schemas.microsoft.com/office/powerpoint/2010/main" val="32263795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Residual Income</a:t>
            </a:r>
          </a:p>
        </p:txBody>
      </p:sp>
      <p:sp>
        <p:nvSpPr>
          <p:cNvPr id="3" name="Content Placeholder 2"/>
          <p:cNvSpPr>
            <a:spLocks noGrp="1"/>
          </p:cNvSpPr>
          <p:nvPr>
            <p:ph idx="1"/>
          </p:nvPr>
        </p:nvSpPr>
        <p:spPr/>
        <p:txBody>
          <a:bodyPr/>
          <a:lstStyle/>
          <a:p>
            <a:r>
              <a:rPr lang="en-US" dirty="0"/>
              <a:t>Residual Income (RI) is the economic profit of a firm minus a charge that measures stockholders’ opportunity cost of capital. </a:t>
            </a:r>
          </a:p>
          <a:p>
            <a:r>
              <a:rPr lang="en-US" dirty="0"/>
              <a:t>The rationale for the residual income approach is that it recognizes the cost of equity capital when measuring income. The concept of economic income is not reflected in traditional accounting income.</a:t>
            </a:r>
          </a:p>
          <a:p>
            <a:r>
              <a:rPr lang="en-US" dirty="0"/>
              <a:t>Since accounting income includes a cost of debt but does not include dividends or other equity related funding costs it may overstate returns from the perspective of equity investors.</a:t>
            </a:r>
          </a:p>
        </p:txBody>
      </p:sp>
    </p:spTree>
    <p:extLst>
      <p:ext uri="{BB962C8B-B14F-4D97-AF65-F5344CB8AC3E}">
        <p14:creationId xmlns:p14="http://schemas.microsoft.com/office/powerpoint/2010/main" val="30779477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RI Calculation</a:t>
            </a:r>
          </a:p>
        </p:txBody>
      </p:sp>
      <p:sp>
        <p:nvSpPr>
          <p:cNvPr id="3" name="Content Placeholder 2"/>
          <p:cNvSpPr>
            <a:spLocks noGrp="1"/>
          </p:cNvSpPr>
          <p:nvPr>
            <p:ph idx="1"/>
          </p:nvPr>
        </p:nvSpPr>
        <p:spPr/>
        <p:txBody>
          <a:bodyPr/>
          <a:lstStyle/>
          <a:p>
            <a:r>
              <a:rPr lang="en-US" dirty="0"/>
              <a:t>RI = Net Income – Equity Charge</a:t>
            </a:r>
          </a:p>
          <a:p>
            <a:r>
              <a:rPr lang="en-US" dirty="0"/>
              <a:t>Equity Charge = Cost of Equity * Equity Capital</a:t>
            </a:r>
          </a:p>
        </p:txBody>
      </p:sp>
    </p:spTree>
    <p:extLst>
      <p:ext uri="{BB962C8B-B14F-4D97-AF65-F5344CB8AC3E}">
        <p14:creationId xmlns:p14="http://schemas.microsoft.com/office/powerpoint/2010/main" val="2149913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RI Calculation Example</a:t>
            </a:r>
          </a:p>
        </p:txBody>
      </p:sp>
      <p:sp>
        <p:nvSpPr>
          <p:cNvPr id="3" name="Content Placeholder 2"/>
          <p:cNvSpPr>
            <a:spLocks noGrp="1"/>
          </p:cNvSpPr>
          <p:nvPr>
            <p:ph idx="1"/>
          </p:nvPr>
        </p:nvSpPr>
        <p:spPr/>
        <p:txBody>
          <a:bodyPr/>
          <a:lstStyle/>
          <a:p>
            <a:r>
              <a:rPr lang="en-US" dirty="0"/>
              <a:t>Net Income = 80,520,000</a:t>
            </a:r>
          </a:p>
          <a:p>
            <a:r>
              <a:rPr lang="en-US" dirty="0"/>
              <a:t>Equity = 800,000,000</a:t>
            </a:r>
          </a:p>
          <a:p>
            <a:r>
              <a:rPr lang="en-US" dirty="0"/>
              <a:t>Cost of Equity = 12.3%</a:t>
            </a:r>
          </a:p>
          <a:p>
            <a:r>
              <a:rPr lang="en-US" dirty="0"/>
              <a:t>RI = 80,520,000 – (800,000,000 * 0.123)</a:t>
            </a:r>
          </a:p>
          <a:p>
            <a:r>
              <a:rPr lang="en-US" dirty="0"/>
              <a:t>RI = -17,880,000</a:t>
            </a:r>
          </a:p>
        </p:txBody>
      </p:sp>
    </p:spTree>
    <p:extLst>
      <p:ext uri="{BB962C8B-B14F-4D97-AF65-F5344CB8AC3E}">
        <p14:creationId xmlns:p14="http://schemas.microsoft.com/office/powerpoint/2010/main" val="16582600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RI Valuation</a:t>
            </a:r>
          </a:p>
        </p:txBody>
      </p:sp>
      <p:sp>
        <p:nvSpPr>
          <p:cNvPr id="3" name="Content Placeholder 2"/>
          <p:cNvSpPr>
            <a:spLocks noGrp="1"/>
          </p:cNvSpPr>
          <p:nvPr>
            <p:ph idx="1"/>
          </p:nvPr>
        </p:nvSpPr>
        <p:spPr/>
        <p:txBody>
          <a:bodyPr/>
          <a:lstStyle/>
          <a:p>
            <a:r>
              <a:rPr lang="en-US" dirty="0"/>
              <a:t>We can calculate the forecasted price of a security using the residual income approach. We do this by forecasting RI into the future and discounting this value back to today and combining it with the current book value of equity.</a:t>
            </a:r>
          </a:p>
        </p:txBody>
      </p:sp>
    </p:spTree>
    <p:extLst>
      <p:ext uri="{BB962C8B-B14F-4D97-AF65-F5344CB8AC3E}">
        <p14:creationId xmlns:p14="http://schemas.microsoft.com/office/powerpoint/2010/main" val="23556506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Corporate finance</a:t>
            </a:r>
          </a:p>
        </p:txBody>
      </p:sp>
      <p:sp>
        <p:nvSpPr>
          <p:cNvPr id="5" name="Text Placeholder 4"/>
          <p:cNvSpPr>
            <a:spLocks noGrp="1"/>
          </p:cNvSpPr>
          <p:nvPr>
            <p:ph type="body" idx="1"/>
          </p:nvPr>
        </p:nvSpPr>
        <p:spPr/>
        <p:txBody>
          <a:bodyPr/>
          <a:lstStyle/>
          <a:p>
            <a:r>
              <a:rPr lang="en-US" dirty="0"/>
              <a:t>Capital budgeting and the Agency Problem</a:t>
            </a:r>
          </a:p>
        </p:txBody>
      </p:sp>
    </p:spTree>
    <p:extLst>
      <p:ext uri="{BB962C8B-B14F-4D97-AF65-F5344CB8AC3E}">
        <p14:creationId xmlns:p14="http://schemas.microsoft.com/office/powerpoint/2010/main" val="2813416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Time Value of Money</a:t>
            </a:r>
          </a:p>
        </p:txBody>
      </p:sp>
      <p:sp>
        <p:nvSpPr>
          <p:cNvPr id="9" name="TextBox 8"/>
          <p:cNvSpPr txBox="1"/>
          <p:nvPr/>
        </p:nvSpPr>
        <p:spPr>
          <a:xfrm>
            <a:off x="609600" y="1600200"/>
            <a:ext cx="8305800" cy="4165243"/>
          </a:xfrm>
          <a:prstGeom prst="rect">
            <a:avLst/>
          </a:prstGeom>
          <a:noFill/>
        </p:spPr>
        <p:txBody>
          <a:bodyPr wrap="square" rtlCol="0">
            <a:spAutoFit/>
          </a:bodyPr>
          <a:lstStyle/>
          <a:p>
            <a:pPr marL="285750" indent="-285750">
              <a:buFont typeface="Arial" panose="020B0604020202020204" pitchFamily="34" charset="0"/>
              <a:buChar char="•"/>
            </a:pPr>
            <a:r>
              <a:rPr lang="en-US" sz="2000" dirty="0"/>
              <a:t>Time value of money comes from the concept of interest</a:t>
            </a:r>
          </a:p>
          <a:p>
            <a:pPr marL="285750" indent="-285750">
              <a:buFont typeface="Arial" panose="020B0604020202020204" pitchFamily="34" charset="0"/>
              <a:buChar char="•"/>
            </a:pPr>
            <a:r>
              <a:rPr lang="en-US" sz="2000" dirty="0"/>
              <a:t>The formulas for the future value and present value are below; n is the number of years and </a:t>
            </a:r>
            <a:r>
              <a:rPr lang="en-US" sz="2000" i="1" dirty="0" err="1"/>
              <a:t>i</a:t>
            </a:r>
            <a:r>
              <a:rPr lang="en-US" sz="2000" i="1" dirty="0"/>
              <a:t> </a:t>
            </a:r>
            <a:r>
              <a:rPr lang="en-US" sz="2000" dirty="0"/>
              <a:t>is the interest rate:</a:t>
            </a:r>
          </a:p>
          <a:p>
            <a:pPr marL="742950" lvl="1" indent="-285750">
              <a:buFont typeface="Arial" panose="020B0604020202020204" pitchFamily="34" charset="0"/>
              <a:buChar char="•"/>
            </a:pPr>
            <a:r>
              <a:rPr lang="en-US" sz="2000" dirty="0"/>
              <a:t>FV = PV (1 + </a:t>
            </a:r>
            <a:r>
              <a:rPr lang="en-US" sz="2000" i="1" dirty="0" err="1"/>
              <a:t>i</a:t>
            </a:r>
            <a:r>
              <a:rPr lang="en-US" sz="2000" dirty="0"/>
              <a:t>)</a:t>
            </a:r>
            <a:r>
              <a:rPr lang="en-US" sz="2000" baseline="30000" dirty="0"/>
              <a:t>n</a:t>
            </a:r>
          </a:p>
          <a:p>
            <a:pPr marL="742950" lvl="1" indent="-285750">
              <a:buFont typeface="Arial" panose="020B0604020202020204" pitchFamily="34" charset="0"/>
              <a:buChar char="•"/>
            </a:pPr>
            <a:r>
              <a:rPr lang="en-US" sz="2000" dirty="0"/>
              <a:t>PV = FV / (1 + </a:t>
            </a:r>
            <a:r>
              <a:rPr lang="en-US" sz="2000" i="1" dirty="0" err="1"/>
              <a:t>i</a:t>
            </a:r>
            <a:r>
              <a:rPr lang="en-US" sz="2000" dirty="0"/>
              <a:t>)</a:t>
            </a:r>
            <a:r>
              <a:rPr lang="en-US" sz="2000" baseline="30000" dirty="0"/>
              <a:t>n</a:t>
            </a:r>
          </a:p>
          <a:p>
            <a:pPr marL="285750" indent="-285750">
              <a:buFont typeface="Arial" panose="020B0604020202020204" pitchFamily="34" charset="0"/>
              <a:buChar char="•"/>
            </a:pPr>
            <a:r>
              <a:rPr lang="en-US" sz="2000" dirty="0"/>
              <a:t>Compound interest</a:t>
            </a:r>
          </a:p>
          <a:p>
            <a:pPr marL="742950" lvl="1" indent="-285750">
              <a:buFont typeface="Arial" panose="020B0604020202020204" pitchFamily="34" charset="0"/>
              <a:buChar char="•"/>
            </a:pPr>
            <a:r>
              <a:rPr lang="en-US" sz="2000" dirty="0"/>
              <a:t>Interest is calculated not only on beginning interest but on any interest accumulated </a:t>
            </a:r>
          </a:p>
          <a:p>
            <a:pPr marL="742950" lvl="1" indent="-285750">
              <a:buFont typeface="Arial" panose="020B0604020202020204" pitchFamily="34" charset="0"/>
              <a:buChar char="•"/>
            </a:pPr>
            <a:r>
              <a:rPr lang="en-US" sz="2000" dirty="0"/>
              <a:t>Example: 5% compound interest on beginning value of $100 for 5 years is shown below</a:t>
            </a:r>
          </a:p>
          <a:p>
            <a:pPr marL="285750" indent="-285750">
              <a:buFont typeface="Arial" panose="020B0604020202020204" pitchFamily="34" charset="0"/>
              <a:buChar char="•"/>
            </a:pPr>
            <a:endParaRPr lang="en-US" sz="2000" baseline="30000" dirty="0"/>
          </a:p>
          <a:p>
            <a:pPr marL="742950" lvl="1" indent="-285750">
              <a:buFont typeface="Arial" panose="020B0604020202020204" pitchFamily="34" charset="0"/>
              <a:buChar char="•"/>
            </a:pPr>
            <a:endParaRPr lang="en-US" sz="2000" baseline="30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dirty="0"/>
          </a:p>
        </p:txBody>
      </p:sp>
      <p:sp>
        <p:nvSpPr>
          <p:cNvPr id="10" name="Rectangle 9"/>
          <p:cNvSpPr/>
          <p:nvPr/>
        </p:nvSpPr>
        <p:spPr>
          <a:xfrm>
            <a:off x="1676400" y="4953000"/>
            <a:ext cx="5791200"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Year 1:  5% of $100.00 = $5.00 + $100.00 = $105.00</a:t>
            </a:r>
            <a:br>
              <a:rPr lang="en-US" dirty="0"/>
            </a:br>
            <a:r>
              <a:rPr lang="en-US" dirty="0"/>
              <a:t>Year 2:  5% of $105.00 = $5.25 + $105.00 = $110.25</a:t>
            </a:r>
            <a:br>
              <a:rPr lang="en-US" dirty="0"/>
            </a:br>
            <a:r>
              <a:rPr lang="en-US" dirty="0"/>
              <a:t>Year 3:  5% of $110.25 = $5.51 + $110.25 = $115.76</a:t>
            </a:r>
            <a:br>
              <a:rPr lang="en-US" dirty="0"/>
            </a:br>
            <a:r>
              <a:rPr lang="en-US" dirty="0"/>
              <a:t>Year 4:  5% of $115.76 = $5.79 + $115.76 = $121.55</a:t>
            </a:r>
            <a:br>
              <a:rPr lang="en-US" dirty="0"/>
            </a:br>
            <a:r>
              <a:rPr lang="en-US" dirty="0"/>
              <a:t>Year 5:  5% of $121.55 = $6.08 + $121.55 = $127.63</a:t>
            </a:r>
          </a:p>
        </p:txBody>
      </p:sp>
    </p:spTree>
    <p:extLst>
      <p:ext uri="{BB962C8B-B14F-4D97-AF65-F5344CB8AC3E}">
        <p14:creationId xmlns:p14="http://schemas.microsoft.com/office/powerpoint/2010/main" val="25678061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Time Value of Money</a:t>
            </a:r>
          </a:p>
        </p:txBody>
      </p:sp>
      <p:sp>
        <p:nvSpPr>
          <p:cNvPr id="3" name="Content Placeholder 2"/>
          <p:cNvSpPr>
            <a:spLocks noGrp="1"/>
          </p:cNvSpPr>
          <p:nvPr>
            <p:ph idx="1"/>
          </p:nvPr>
        </p:nvSpPr>
        <p:spPr>
          <a:xfrm>
            <a:off x="457200" y="1600200"/>
            <a:ext cx="8153400" cy="4876800"/>
          </a:xfrm>
        </p:spPr>
        <p:txBody>
          <a:bodyPr/>
          <a:lstStyle/>
          <a:p>
            <a:r>
              <a:rPr lang="en-US" dirty="0"/>
              <a:t>Monetary assets and monetary liabilities are valued at the present value of future cash flows</a:t>
            </a:r>
          </a:p>
          <a:p>
            <a:pPr lvl="1"/>
            <a:r>
              <a:rPr lang="en-US" dirty="0"/>
              <a:t>Monetary assets – Money and claims to receive money, the amount which is fixed or determinable</a:t>
            </a:r>
          </a:p>
          <a:p>
            <a:pPr lvl="1"/>
            <a:r>
              <a:rPr lang="en-US" dirty="0"/>
              <a:t>Monetary liabilities – Obligations to pay amounts of cash, the amount of which is fixed or determinable</a:t>
            </a:r>
          </a:p>
          <a:p>
            <a:r>
              <a:rPr lang="en-US" dirty="0"/>
              <a:t>Basic annuity</a:t>
            </a:r>
          </a:p>
          <a:p>
            <a:pPr lvl="1"/>
            <a:r>
              <a:rPr lang="en-US" dirty="0"/>
              <a:t>An annuity is a series of equal periodic payments</a:t>
            </a:r>
          </a:p>
          <a:p>
            <a:pPr lvl="2"/>
            <a:r>
              <a:rPr lang="en-US" dirty="0"/>
              <a:t>Example: car payment or house payment</a:t>
            </a:r>
          </a:p>
        </p:txBody>
      </p:sp>
    </p:spTree>
    <p:extLst>
      <p:ext uri="{BB962C8B-B14F-4D97-AF65-F5344CB8AC3E}">
        <p14:creationId xmlns:p14="http://schemas.microsoft.com/office/powerpoint/2010/main" val="35102399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Capital Budgeting</a:t>
            </a:r>
          </a:p>
        </p:txBody>
      </p:sp>
      <p:sp>
        <p:nvSpPr>
          <p:cNvPr id="3" name="Content Placeholder 2"/>
          <p:cNvSpPr>
            <a:spLocks noGrp="1"/>
          </p:cNvSpPr>
          <p:nvPr>
            <p:ph idx="1"/>
          </p:nvPr>
        </p:nvSpPr>
        <p:spPr/>
        <p:txBody>
          <a:bodyPr/>
          <a:lstStyle/>
          <a:p>
            <a:r>
              <a:rPr lang="en-US" dirty="0"/>
              <a:t>Capital budgeting</a:t>
            </a:r>
          </a:p>
          <a:p>
            <a:pPr lvl="1"/>
            <a:r>
              <a:rPr lang="en-US" dirty="0"/>
              <a:t>The planning process where management decides on long-term investments projects</a:t>
            </a:r>
          </a:p>
          <a:p>
            <a:pPr lvl="1"/>
            <a:r>
              <a:rPr lang="en-US" dirty="0"/>
              <a:t>Includes research on how the projects would be finances through the firm’s capitalization structure (debt, equity, retained earnings)</a:t>
            </a:r>
          </a:p>
          <a:p>
            <a:pPr lvl="1"/>
            <a:r>
              <a:rPr lang="en-US" dirty="0"/>
              <a:t>Primary goal of capital budgeting investments is to increase the value of the firm to the shareholders</a:t>
            </a:r>
          </a:p>
          <a:p>
            <a:pPr lvl="1"/>
            <a:r>
              <a:rPr lang="en-US" dirty="0"/>
              <a:t>Techniques include:</a:t>
            </a:r>
          </a:p>
          <a:p>
            <a:pPr lvl="2"/>
            <a:r>
              <a:rPr lang="en-US" dirty="0"/>
              <a:t>NPV</a:t>
            </a:r>
          </a:p>
          <a:p>
            <a:pPr lvl="2"/>
            <a:r>
              <a:rPr lang="en-US" dirty="0"/>
              <a:t>IRR</a:t>
            </a:r>
          </a:p>
          <a:p>
            <a:pPr lvl="2"/>
            <a:r>
              <a:rPr lang="en-US" dirty="0"/>
              <a:t>Payback period</a:t>
            </a:r>
          </a:p>
        </p:txBody>
      </p:sp>
    </p:spTree>
    <p:extLst>
      <p:ext uri="{BB962C8B-B14F-4D97-AF65-F5344CB8AC3E}">
        <p14:creationId xmlns:p14="http://schemas.microsoft.com/office/powerpoint/2010/main" val="1020124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Capital Budgeting</a:t>
            </a:r>
          </a:p>
        </p:txBody>
      </p:sp>
      <p:sp>
        <p:nvSpPr>
          <p:cNvPr id="3" name="Content Placeholder 2"/>
          <p:cNvSpPr>
            <a:spLocks noGrp="1"/>
          </p:cNvSpPr>
          <p:nvPr>
            <p:ph idx="1"/>
          </p:nvPr>
        </p:nvSpPr>
        <p:spPr/>
        <p:txBody>
          <a:bodyPr/>
          <a:lstStyle/>
          <a:p>
            <a:r>
              <a:rPr lang="en-US" dirty="0"/>
              <a:t>Either Independent or Mutually Exclusive</a:t>
            </a:r>
          </a:p>
          <a:p>
            <a:r>
              <a:rPr lang="en-US" dirty="0"/>
              <a:t>Independent</a:t>
            </a:r>
          </a:p>
          <a:p>
            <a:pPr lvl="1"/>
            <a:r>
              <a:rPr lang="en-US" dirty="0"/>
              <a:t>Projects whose cash flows are not affected by accept/reject decision for other projects</a:t>
            </a:r>
          </a:p>
          <a:p>
            <a:pPr lvl="1"/>
            <a:r>
              <a:rPr lang="en-US" dirty="0"/>
              <a:t>So, all Independent projects should be accepted if they meet the Capital Budgeting guidelines</a:t>
            </a:r>
          </a:p>
          <a:p>
            <a:r>
              <a:rPr lang="en-US" dirty="0"/>
              <a:t>Mutually Exclusive</a:t>
            </a:r>
          </a:p>
          <a:p>
            <a:pPr lvl="1"/>
            <a:r>
              <a:rPr lang="en-US" dirty="0"/>
              <a:t>Set of projects from which at most 1 will be accepted</a:t>
            </a:r>
          </a:p>
          <a:p>
            <a:pPr lvl="1"/>
            <a:r>
              <a:rPr lang="en-US" dirty="0"/>
              <a:t>Pick only the best one</a:t>
            </a:r>
          </a:p>
        </p:txBody>
      </p:sp>
    </p:spTree>
    <p:extLst>
      <p:ext uri="{BB962C8B-B14F-4D97-AF65-F5344CB8AC3E}">
        <p14:creationId xmlns:p14="http://schemas.microsoft.com/office/powerpoint/2010/main" val="2233042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 (NPV)</a:t>
            </a:r>
          </a:p>
        </p:txBody>
      </p:sp>
      <p:sp>
        <p:nvSpPr>
          <p:cNvPr id="3" name="Content Placeholder 2"/>
          <p:cNvSpPr>
            <a:spLocks noGrp="1"/>
          </p:cNvSpPr>
          <p:nvPr>
            <p:ph idx="1"/>
          </p:nvPr>
        </p:nvSpPr>
        <p:spPr/>
        <p:txBody>
          <a:bodyPr/>
          <a:lstStyle/>
          <a:p>
            <a:r>
              <a:rPr lang="en-US" dirty="0"/>
              <a:t>Identify all cash flows associated with the investment (all inflows and outflows)</a:t>
            </a:r>
          </a:p>
          <a:p>
            <a:r>
              <a:rPr lang="en-US" dirty="0"/>
              <a:t>Determine appropriate discount rate, </a:t>
            </a:r>
            <a:r>
              <a:rPr lang="en-US" i="1" dirty="0"/>
              <a:t>r</a:t>
            </a:r>
          </a:p>
          <a:p>
            <a:r>
              <a:rPr lang="en-US" dirty="0"/>
              <a:t>Use </a:t>
            </a:r>
            <a:r>
              <a:rPr lang="en-US" i="1" dirty="0"/>
              <a:t>r </a:t>
            </a:r>
            <a:r>
              <a:rPr lang="en-US" dirty="0"/>
              <a:t>to find present value of each cash flow</a:t>
            </a:r>
          </a:p>
          <a:p>
            <a:r>
              <a:rPr lang="en-US" dirty="0"/>
              <a:t>NPV rule – if investment NPV is positive, do it</a:t>
            </a:r>
          </a:p>
          <a:p>
            <a:endParaRPr lang="en-US" dirty="0"/>
          </a:p>
          <a:p>
            <a:r>
              <a:rPr lang="en-US" dirty="0"/>
              <a:t>NPV = ∑ </a:t>
            </a:r>
            <a:r>
              <a:rPr lang="en-US" dirty="0" err="1"/>
              <a:t>CF</a:t>
            </a:r>
            <a:r>
              <a:rPr lang="en-US" baseline="-25000" dirty="0" err="1"/>
              <a:t>t</a:t>
            </a:r>
            <a:r>
              <a:rPr lang="en-US" sz="1600" dirty="0"/>
              <a:t> </a:t>
            </a:r>
            <a:r>
              <a:rPr lang="en-US" dirty="0"/>
              <a:t>/(1+</a:t>
            </a:r>
            <a:r>
              <a:rPr lang="en-US" i="1" dirty="0"/>
              <a:t>r</a:t>
            </a:r>
            <a:r>
              <a:rPr lang="en-US" dirty="0"/>
              <a:t>)</a:t>
            </a:r>
            <a:r>
              <a:rPr lang="en-US" baseline="30000" dirty="0"/>
              <a:t>t</a:t>
            </a:r>
          </a:p>
          <a:p>
            <a:endParaRPr lang="en-US" sz="3200" baseline="30000" dirty="0"/>
          </a:p>
          <a:p>
            <a:endParaRPr lang="en-US" sz="3200" baseline="30000" dirty="0"/>
          </a:p>
        </p:txBody>
      </p:sp>
    </p:spTree>
    <p:extLst>
      <p:ext uri="{BB962C8B-B14F-4D97-AF65-F5344CB8AC3E}">
        <p14:creationId xmlns:p14="http://schemas.microsoft.com/office/powerpoint/2010/main" val="1765227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Internal Rate of Return (IRR)</a:t>
            </a:r>
          </a:p>
        </p:txBody>
      </p:sp>
      <p:sp>
        <p:nvSpPr>
          <p:cNvPr id="3" name="Content Placeholder 2"/>
          <p:cNvSpPr>
            <a:spLocks noGrp="1"/>
          </p:cNvSpPr>
          <p:nvPr>
            <p:ph idx="1"/>
          </p:nvPr>
        </p:nvSpPr>
        <p:spPr/>
        <p:txBody>
          <a:bodyPr/>
          <a:lstStyle/>
          <a:p>
            <a:r>
              <a:rPr lang="en-US" dirty="0"/>
              <a:t>Discount rate that makes NPV = 0</a:t>
            </a:r>
          </a:p>
          <a:p>
            <a:r>
              <a:rPr lang="en-US" dirty="0"/>
              <a:t>“Internal” since it depends only on the cash flows of investment</a:t>
            </a:r>
          </a:p>
          <a:p>
            <a:endParaRPr lang="en-US" dirty="0"/>
          </a:p>
          <a:p>
            <a:r>
              <a:rPr lang="en-US" dirty="0"/>
              <a:t>NPV = CF</a:t>
            </a:r>
            <a:r>
              <a:rPr lang="en-US" baseline="-25000" dirty="0"/>
              <a:t>0 </a:t>
            </a:r>
            <a:r>
              <a:rPr lang="en-US" dirty="0"/>
              <a:t>+ CF</a:t>
            </a:r>
            <a:r>
              <a:rPr lang="en-US" baseline="-25000" dirty="0"/>
              <a:t>1</a:t>
            </a:r>
            <a:r>
              <a:rPr lang="en-US" dirty="0"/>
              <a:t>/(1+IRR)</a:t>
            </a:r>
            <a:r>
              <a:rPr lang="en-US" baseline="30000" dirty="0"/>
              <a:t>1 </a:t>
            </a:r>
            <a:r>
              <a:rPr lang="en-US" dirty="0"/>
              <a:t>+…+CF</a:t>
            </a:r>
            <a:r>
              <a:rPr lang="en-US" baseline="-25000" dirty="0"/>
              <a:t>N </a:t>
            </a:r>
            <a:r>
              <a:rPr lang="en-US" dirty="0"/>
              <a:t>/(1+IRR)</a:t>
            </a:r>
            <a:r>
              <a:rPr lang="en-US" baseline="30000" dirty="0"/>
              <a:t>N</a:t>
            </a:r>
            <a:endParaRPr lang="en-US" dirty="0"/>
          </a:p>
          <a:p>
            <a:endParaRPr lang="en-US" baseline="30000" dirty="0"/>
          </a:p>
          <a:p>
            <a:r>
              <a:rPr lang="en-US" dirty="0"/>
              <a:t>When choosing between mutually exclusive projects, use NPV rule</a:t>
            </a:r>
          </a:p>
          <a:p>
            <a:pPr lvl="1"/>
            <a:r>
              <a:rPr lang="en-US" dirty="0"/>
              <a:t>NPV is expected addition to shareholder wealth</a:t>
            </a:r>
          </a:p>
        </p:txBody>
      </p:sp>
    </p:spTree>
    <p:extLst>
      <p:ext uri="{BB962C8B-B14F-4D97-AF65-F5344CB8AC3E}">
        <p14:creationId xmlns:p14="http://schemas.microsoft.com/office/powerpoint/2010/main" val="32827868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Payback Period</a:t>
            </a:r>
          </a:p>
        </p:txBody>
      </p:sp>
      <p:sp>
        <p:nvSpPr>
          <p:cNvPr id="3" name="Content Placeholder 2"/>
          <p:cNvSpPr>
            <a:spLocks noGrp="1"/>
          </p:cNvSpPr>
          <p:nvPr>
            <p:ph idx="1"/>
          </p:nvPr>
        </p:nvSpPr>
        <p:spPr/>
        <p:txBody>
          <a:bodyPr/>
          <a:lstStyle/>
          <a:p>
            <a:r>
              <a:rPr lang="en-US" dirty="0"/>
              <a:t>The period of time required to break-even on an investment project; i.e. the time the project “pays for itself”</a:t>
            </a:r>
          </a:p>
          <a:p>
            <a:r>
              <a:rPr lang="en-US" dirty="0"/>
              <a:t>TVM not taken into account</a:t>
            </a:r>
          </a:p>
        </p:txBody>
      </p:sp>
    </p:spTree>
    <p:extLst>
      <p:ext uri="{BB962C8B-B14F-4D97-AF65-F5344CB8AC3E}">
        <p14:creationId xmlns:p14="http://schemas.microsoft.com/office/powerpoint/2010/main" val="26273110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Agency Problem</a:t>
            </a:r>
          </a:p>
        </p:txBody>
      </p:sp>
      <p:sp>
        <p:nvSpPr>
          <p:cNvPr id="3" name="Content Placeholder 2"/>
          <p:cNvSpPr>
            <a:spLocks noGrp="1"/>
          </p:cNvSpPr>
          <p:nvPr>
            <p:ph idx="1"/>
          </p:nvPr>
        </p:nvSpPr>
        <p:spPr/>
        <p:txBody>
          <a:bodyPr/>
          <a:lstStyle/>
          <a:p>
            <a:r>
              <a:rPr lang="en-US" dirty="0"/>
              <a:t>Conflict of interest – where one party is expected to act in another’s best interests</a:t>
            </a:r>
          </a:p>
          <a:p>
            <a:r>
              <a:rPr lang="en-US" dirty="0"/>
              <a:t>In corporate finance, agency problem is the conflict of interest between the company’s management and the company’s stockholders</a:t>
            </a:r>
          </a:p>
          <a:p>
            <a:r>
              <a:rPr lang="en-US" dirty="0"/>
              <a:t>The manager acts as an agent to the shareholders to maximize their wealth even though it’s in the manager’s best interest to maximize his/her own wealth</a:t>
            </a:r>
          </a:p>
          <a:p>
            <a:r>
              <a:rPr lang="en-US" dirty="0"/>
              <a:t>Hedging against the agency problem includes performance-based compensation</a:t>
            </a:r>
          </a:p>
        </p:txBody>
      </p:sp>
    </p:spTree>
    <p:extLst>
      <p:ext uri="{BB962C8B-B14F-4D97-AF65-F5344CB8AC3E}">
        <p14:creationId xmlns:p14="http://schemas.microsoft.com/office/powerpoint/2010/main" val="15403738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Appendix</a:t>
            </a:r>
          </a:p>
        </p:txBody>
      </p:sp>
      <p:sp>
        <p:nvSpPr>
          <p:cNvPr id="2" name="Text Placeholder 1"/>
          <p:cNvSpPr>
            <a:spLocks noGrp="1"/>
          </p:cNvSpPr>
          <p:nvPr>
            <p:ph type="body" idx="1"/>
          </p:nvPr>
        </p:nvSpPr>
        <p:spPr/>
        <p:txBody>
          <a:bodyPr/>
          <a:lstStyle/>
          <a:p>
            <a:r>
              <a:rPr lang="en-US" dirty="0"/>
              <a:t>Additional Notes</a:t>
            </a:r>
          </a:p>
        </p:txBody>
      </p:sp>
    </p:spTree>
    <p:extLst>
      <p:ext uri="{BB962C8B-B14F-4D97-AF65-F5344CB8AC3E}">
        <p14:creationId xmlns:p14="http://schemas.microsoft.com/office/powerpoint/2010/main" val="12662892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Excel Function</a:t>
            </a:r>
          </a:p>
        </p:txBody>
      </p:sp>
      <p:sp>
        <p:nvSpPr>
          <p:cNvPr id="3" name="Content Placeholder 2"/>
          <p:cNvSpPr>
            <a:spLocks noGrp="1"/>
          </p:cNvSpPr>
          <p:nvPr>
            <p:ph idx="1"/>
          </p:nvPr>
        </p:nvSpPr>
        <p:spPr/>
        <p:txBody>
          <a:bodyPr/>
          <a:lstStyle/>
          <a:p>
            <a:pPr lvl="1"/>
            <a:r>
              <a:rPr lang="en-US" dirty="0"/>
              <a:t>If you want to see all the formulas on a sheet, press the buttons “Ctrl“ and “~” (next to the 1 button)</a:t>
            </a:r>
          </a:p>
          <a:p>
            <a:pPr lvl="2"/>
            <a:r>
              <a:rPr lang="en-US" dirty="0"/>
              <a:t>Press them again to revert back to numbers on the sheet</a:t>
            </a:r>
          </a:p>
          <a:p>
            <a:pPr lvl="1"/>
            <a:endParaRPr lang="en-US" dirty="0"/>
          </a:p>
          <a:p>
            <a:pPr lvl="1"/>
            <a:r>
              <a:rPr lang="en-US" dirty="0">
                <a:hlinkClick r:id="rId2"/>
              </a:rPr>
              <a:t>Other Excel shortcut and function keys</a:t>
            </a:r>
            <a:endParaRPr lang="en-US" dirty="0"/>
          </a:p>
          <a:p>
            <a:endParaRPr lang="en-US" dirty="0"/>
          </a:p>
        </p:txBody>
      </p:sp>
    </p:spTree>
    <p:extLst>
      <p:ext uri="{BB962C8B-B14F-4D97-AF65-F5344CB8AC3E}">
        <p14:creationId xmlns:p14="http://schemas.microsoft.com/office/powerpoint/2010/main" val="10517222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PP&amp;E</a:t>
            </a:r>
          </a:p>
        </p:txBody>
      </p:sp>
      <p:sp>
        <p:nvSpPr>
          <p:cNvPr id="3" name="Content Placeholder 2"/>
          <p:cNvSpPr>
            <a:spLocks noGrp="1"/>
          </p:cNvSpPr>
          <p:nvPr>
            <p:ph idx="1"/>
          </p:nvPr>
        </p:nvSpPr>
        <p:spPr/>
        <p:txBody>
          <a:bodyPr>
            <a:normAutofit/>
          </a:bodyPr>
          <a:lstStyle/>
          <a:p>
            <a:r>
              <a:rPr lang="en-US" sz="2000" dirty="0"/>
              <a:t>New purchases of fixed assets must be made to support expected revenue growth</a:t>
            </a:r>
          </a:p>
          <a:p>
            <a:r>
              <a:rPr lang="en-US" sz="2000" dirty="0" err="1"/>
              <a:t>Capex</a:t>
            </a:r>
            <a:r>
              <a:rPr lang="en-US" sz="2000" dirty="0"/>
              <a:t> is found in cash flow statement or in footnotes </a:t>
            </a:r>
          </a:p>
          <a:p>
            <a:r>
              <a:rPr lang="en-US" sz="2000" dirty="0"/>
              <a:t>Note:</a:t>
            </a:r>
          </a:p>
          <a:p>
            <a:pPr lvl="1"/>
            <a:r>
              <a:rPr lang="en-US" sz="1800" dirty="0"/>
              <a:t>Mature company vs startup</a:t>
            </a:r>
          </a:p>
          <a:p>
            <a:pPr lvl="2"/>
            <a:r>
              <a:rPr lang="en-US" sz="1600" dirty="0"/>
              <a:t>i.e. </a:t>
            </a:r>
            <a:r>
              <a:rPr lang="en-US" sz="1600" dirty="0" err="1"/>
              <a:t>capex</a:t>
            </a:r>
            <a:r>
              <a:rPr lang="en-US" sz="1600" dirty="0"/>
              <a:t> may outpace revenue  growth for startup</a:t>
            </a:r>
          </a:p>
          <a:p>
            <a:pPr lvl="1"/>
            <a:r>
              <a:rPr lang="en-US" sz="1800" dirty="0"/>
              <a:t>Discretionary vs maintenance (required) </a:t>
            </a:r>
            <a:r>
              <a:rPr lang="en-US" sz="1800" dirty="0" err="1"/>
              <a:t>capex</a:t>
            </a:r>
            <a:endParaRPr lang="en-US" sz="1800" dirty="0"/>
          </a:p>
          <a:p>
            <a:pPr lvl="2"/>
            <a:r>
              <a:rPr lang="en-US" sz="1600" dirty="0"/>
              <a:t>Companies entering maturity phase may significantly reduce historical </a:t>
            </a:r>
            <a:r>
              <a:rPr lang="en-US" sz="1600" dirty="0" err="1"/>
              <a:t>capex</a:t>
            </a:r>
            <a:r>
              <a:rPr lang="en-US" sz="1600" dirty="0"/>
              <a:t> levels from high discretionary levels to maintenance levels</a:t>
            </a:r>
          </a:p>
        </p:txBody>
      </p:sp>
    </p:spTree>
    <p:extLst>
      <p:ext uri="{BB962C8B-B14F-4D97-AF65-F5344CB8AC3E}">
        <p14:creationId xmlns:p14="http://schemas.microsoft.com/office/powerpoint/2010/main" val="39432205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Retained Earnings</a:t>
            </a:r>
          </a:p>
        </p:txBody>
      </p:sp>
      <p:sp>
        <p:nvSpPr>
          <p:cNvPr id="3" name="Content Placeholder 2"/>
          <p:cNvSpPr>
            <a:spLocks noGrp="1"/>
          </p:cNvSpPr>
          <p:nvPr>
            <p:ph idx="1"/>
          </p:nvPr>
        </p:nvSpPr>
        <p:spPr>
          <a:xfrm>
            <a:off x="457200" y="1600200"/>
            <a:ext cx="4114800" cy="4876800"/>
          </a:xfrm>
        </p:spPr>
        <p:txBody>
          <a:bodyPr>
            <a:normAutofit/>
          </a:bodyPr>
          <a:lstStyle/>
          <a:p>
            <a:r>
              <a:rPr lang="en-US" sz="2000" dirty="0"/>
              <a:t>Net income is referenced from income statement</a:t>
            </a:r>
          </a:p>
          <a:p>
            <a:r>
              <a:rPr lang="en-US" sz="2000" dirty="0"/>
              <a:t>For companies that pay dividends, the preferred modeling approach is to apply a historical dividend payout ratio (dividends/net income) to forecast future dividends</a:t>
            </a:r>
          </a:p>
          <a:p>
            <a:r>
              <a:rPr lang="en-US" sz="2000" dirty="0"/>
              <a:t>If there are preferred dividends, the common modeling approach is to straight-line historical preferred dividends</a:t>
            </a:r>
          </a:p>
        </p:txBody>
      </p:sp>
      <p:sp>
        <p:nvSpPr>
          <p:cNvPr id="4" name="TextBox 3"/>
          <p:cNvSpPr txBox="1"/>
          <p:nvPr/>
        </p:nvSpPr>
        <p:spPr>
          <a:xfrm>
            <a:off x="5105400" y="1600200"/>
            <a:ext cx="3352800" cy="4985980"/>
          </a:xfrm>
          <a:prstGeom prst="rect">
            <a:avLst/>
          </a:prstGeom>
          <a:noFill/>
        </p:spPr>
        <p:txBody>
          <a:bodyPr wrap="square" rtlCol="0">
            <a:spAutoFit/>
          </a:bodyPr>
          <a:lstStyle/>
          <a:p>
            <a:pPr marL="285750" indent="-285750">
              <a:buFont typeface="Arial" panose="020B0604020202020204" pitchFamily="34" charset="0"/>
              <a:buChar char="•"/>
            </a:pPr>
            <a:r>
              <a:rPr lang="en-US" sz="2000" dirty="0"/>
              <a:t>For companies that report </a:t>
            </a:r>
            <a:r>
              <a:rPr lang="en-US" sz="2000" dirty="0" err="1"/>
              <a:t>noncontrolling</a:t>
            </a:r>
            <a:r>
              <a:rPr lang="en-US" sz="2000" dirty="0"/>
              <a:t> (minority) interest expense and affiliate income on the income statement, net income in RE should reflect NI after these items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 balances capture earnings to common shareholders, after accounting for non-common equity claims against the business</a:t>
            </a:r>
          </a:p>
          <a:p>
            <a:endParaRPr lang="en-US" dirty="0"/>
          </a:p>
        </p:txBody>
      </p:sp>
    </p:spTree>
    <p:extLst>
      <p:ext uri="{BB962C8B-B14F-4D97-AF65-F5344CB8AC3E}">
        <p14:creationId xmlns:p14="http://schemas.microsoft.com/office/powerpoint/2010/main" val="26677771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Non-Debt BS Line Items</a:t>
            </a:r>
          </a:p>
        </p:txBody>
      </p:sp>
      <p:sp>
        <p:nvSpPr>
          <p:cNvPr id="3" name="Content Placeholder 2"/>
          <p:cNvSpPr>
            <a:spLocks noGrp="1"/>
          </p:cNvSpPr>
          <p:nvPr>
            <p:ph idx="1"/>
          </p:nvPr>
        </p:nvSpPr>
        <p:spPr/>
        <p:txBody>
          <a:bodyPr/>
          <a:lstStyle/>
          <a:p>
            <a:r>
              <a:rPr lang="en-US" dirty="0"/>
              <a:t>Appropriate to straight-line when?</a:t>
            </a:r>
          </a:p>
          <a:p>
            <a:pPr lvl="1"/>
            <a:r>
              <a:rPr lang="en-US" dirty="0"/>
              <a:t>Low significance of the line item(s)</a:t>
            </a:r>
          </a:p>
          <a:p>
            <a:pPr lvl="1"/>
            <a:r>
              <a:rPr lang="en-US" dirty="0"/>
              <a:t>Line item is not related to operations</a:t>
            </a:r>
          </a:p>
          <a:p>
            <a:pPr lvl="2"/>
            <a:r>
              <a:rPr lang="en-US" dirty="0"/>
              <a:t>Will not rise (decline) with growth in revenues and profitability</a:t>
            </a:r>
          </a:p>
          <a:p>
            <a:pPr lvl="2"/>
            <a:r>
              <a:rPr lang="en-US" dirty="0"/>
              <a:t>A non-operating asset, preferred stock, or accumulated gains from currency translation are all items that, without a clear driver, should be straight-lined</a:t>
            </a:r>
          </a:p>
          <a:p>
            <a:pPr lvl="1"/>
            <a:r>
              <a:rPr lang="en-US" dirty="0"/>
              <a:t>No research or clear driver given any available information</a:t>
            </a:r>
          </a:p>
        </p:txBody>
      </p:sp>
    </p:spTree>
    <p:extLst>
      <p:ext uri="{BB962C8B-B14F-4D97-AF65-F5344CB8AC3E}">
        <p14:creationId xmlns:p14="http://schemas.microsoft.com/office/powerpoint/2010/main" val="34753437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Cash Flow Statement</a:t>
            </a:r>
          </a:p>
        </p:txBody>
      </p:sp>
      <p:graphicFrame>
        <p:nvGraphicFramePr>
          <p:cNvPr id="4" name="Table 3"/>
          <p:cNvGraphicFramePr>
            <a:graphicFrameLocks noGrp="1"/>
          </p:cNvGraphicFramePr>
          <p:nvPr>
            <p:extLst>
              <p:ext uri="{D42A27DB-BD31-4B8C-83A1-F6EECF244321}">
                <p14:modId xmlns:p14="http://schemas.microsoft.com/office/powerpoint/2010/main" val="1411040816"/>
              </p:ext>
            </p:extLst>
          </p:nvPr>
        </p:nvGraphicFramePr>
        <p:xfrm>
          <a:off x="381000" y="1371600"/>
          <a:ext cx="8153400" cy="5151120"/>
        </p:xfrm>
        <a:graphic>
          <a:graphicData uri="http://schemas.openxmlformats.org/drawingml/2006/table">
            <a:tbl>
              <a:tblPr firstRow="1" bandRow="1">
                <a:tableStyleId>{5C22544A-7EE6-4342-B048-85BDC9FD1C3A}</a:tableStyleId>
              </a:tblPr>
              <a:tblGrid>
                <a:gridCol w="8153400">
                  <a:extLst>
                    <a:ext uri="{9D8B030D-6E8A-4147-A177-3AD203B41FA5}">
                      <a16:colId xmlns:a16="http://schemas.microsoft.com/office/drawing/2014/main" val="20000"/>
                    </a:ext>
                  </a:extLst>
                </a:gridCol>
              </a:tblGrid>
              <a:tr h="303825">
                <a:tc>
                  <a:txBody>
                    <a:bodyPr/>
                    <a:lstStyle/>
                    <a:p>
                      <a:r>
                        <a:rPr lang="en-US" dirty="0"/>
                        <a:t>CFO</a:t>
                      </a:r>
                    </a:p>
                  </a:txBody>
                  <a:tcPr/>
                </a:tc>
                <a:extLst>
                  <a:ext uri="{0D108BD9-81ED-4DB2-BD59-A6C34878D82A}">
                    <a16:rowId xmlns:a16="http://schemas.microsoft.com/office/drawing/2014/main" val="10000"/>
                  </a:ext>
                </a:extLst>
              </a:tr>
              <a:tr h="531693">
                <a:tc>
                  <a:txBody>
                    <a:bodyPr/>
                    <a:lstStyle/>
                    <a:p>
                      <a:r>
                        <a:rPr lang="en-US" dirty="0"/>
                        <a:t>Net Income</a:t>
                      </a:r>
                    </a:p>
                    <a:p>
                      <a:pPr marL="285750" indent="-285750">
                        <a:buFont typeface="Arial" panose="020B0604020202020204" pitchFamily="34" charset="0"/>
                        <a:buChar char="•"/>
                      </a:pPr>
                      <a:r>
                        <a:rPr lang="en-US" dirty="0"/>
                        <a:t>Starting point of CFO using indirect method</a:t>
                      </a:r>
                    </a:p>
                  </a:txBody>
                  <a:tcPr/>
                </a:tc>
                <a:extLst>
                  <a:ext uri="{0D108BD9-81ED-4DB2-BD59-A6C34878D82A}">
                    <a16:rowId xmlns:a16="http://schemas.microsoft.com/office/drawing/2014/main" val="10001"/>
                  </a:ext>
                </a:extLst>
              </a:tr>
              <a:tr h="1149348">
                <a:tc>
                  <a:txBody>
                    <a:bodyPr/>
                    <a:lstStyle/>
                    <a:p>
                      <a:r>
                        <a:rPr lang="en-US" dirty="0"/>
                        <a:t>+D&amp;A</a:t>
                      </a:r>
                    </a:p>
                    <a:p>
                      <a:pPr marL="285750" indent="-285750">
                        <a:buFont typeface="Arial" panose="020B0604020202020204" pitchFamily="34" charset="0"/>
                        <a:buChar char="•"/>
                      </a:pPr>
                      <a:r>
                        <a:rPr lang="en-US" sz="1600" dirty="0"/>
                        <a:t>Usually</a:t>
                      </a:r>
                      <a:r>
                        <a:rPr lang="en-US" sz="1600" baseline="0" dirty="0"/>
                        <a:t> the second line in a CFS is the add back of D&amp;A expense</a:t>
                      </a:r>
                    </a:p>
                    <a:p>
                      <a:pPr marL="285750" indent="-285750">
                        <a:buFont typeface="Arial" panose="020B0604020202020204" pitchFamily="34" charset="0"/>
                        <a:buChar char="•"/>
                      </a:pPr>
                      <a:r>
                        <a:rPr lang="en-US" sz="1600" baseline="0" dirty="0"/>
                        <a:t>D&amp;A expenses are embedded in various expense items on the IS (primarily COGS and operating expenses) and reduce net income</a:t>
                      </a:r>
                    </a:p>
                    <a:p>
                      <a:pPr marL="285750" indent="-285750">
                        <a:buFont typeface="Arial" panose="020B0604020202020204" pitchFamily="34" charset="0"/>
                        <a:buChar char="•"/>
                      </a:pPr>
                      <a:r>
                        <a:rPr lang="en-US" sz="1600" baseline="0" dirty="0"/>
                        <a:t>Are non-cash expenses, so add D&amp;A expenses back to NI</a:t>
                      </a:r>
                      <a:endParaRPr lang="en-US" sz="1600" dirty="0"/>
                    </a:p>
                  </a:txBody>
                  <a:tcPr/>
                </a:tc>
                <a:extLst>
                  <a:ext uri="{0D108BD9-81ED-4DB2-BD59-A6C34878D82A}">
                    <a16:rowId xmlns:a16="http://schemas.microsoft.com/office/drawing/2014/main" val="10002"/>
                  </a:ext>
                </a:extLst>
              </a:tr>
              <a:tr h="1592850">
                <a:tc>
                  <a:txBody>
                    <a:bodyPr/>
                    <a:lstStyle/>
                    <a:p>
                      <a:pPr marL="0" indent="0">
                        <a:buFontTx/>
                        <a:buNone/>
                      </a:pPr>
                      <a:r>
                        <a:rPr lang="en-US" baseline="0" dirty="0"/>
                        <a:t>-Increases in AR, Inventory, prepaid expenses, taxes payable, other current assets</a:t>
                      </a:r>
                    </a:p>
                    <a:p>
                      <a:pPr marL="285750" indent="-285750">
                        <a:buFont typeface="Arial" panose="020B0604020202020204" pitchFamily="34" charset="0"/>
                        <a:buChar char="•"/>
                      </a:pPr>
                      <a:r>
                        <a:rPr lang="en-US" sz="1600" baseline="0" dirty="0"/>
                        <a:t>Increases in working capital asset balances are cash </a:t>
                      </a:r>
                      <a:r>
                        <a:rPr lang="en-US" sz="1600" b="1" baseline="0" dirty="0"/>
                        <a:t>out</a:t>
                      </a:r>
                      <a:r>
                        <a:rPr lang="en-US" sz="1600" b="0" baseline="0" dirty="0"/>
                        <a:t>flows</a:t>
                      </a:r>
                    </a:p>
                    <a:p>
                      <a:pPr marL="285750" indent="-285750">
                        <a:buFont typeface="Arial" panose="020B0604020202020204" pitchFamily="34" charset="0"/>
                        <a:buChar char="•"/>
                      </a:pPr>
                      <a:r>
                        <a:rPr lang="en-US" sz="1600" b="0" baseline="0" dirty="0"/>
                        <a:t>Decreases in working capital asset balances are cash</a:t>
                      </a:r>
                      <a:r>
                        <a:rPr lang="en-US" sz="1600" b="1" baseline="0" dirty="0"/>
                        <a:t> in</a:t>
                      </a:r>
                      <a:r>
                        <a:rPr lang="en-US" sz="1600" b="0" baseline="0" dirty="0"/>
                        <a:t>flows</a:t>
                      </a:r>
                    </a:p>
                    <a:p>
                      <a:pPr marL="0" indent="0">
                        <a:buFont typeface="Arial" panose="020B0604020202020204" pitchFamily="34" charset="0"/>
                        <a:buNone/>
                      </a:pPr>
                      <a:r>
                        <a:rPr lang="en-US" b="0" baseline="0" dirty="0"/>
                        <a:t>+Increases in AP, accrued expenses, other current liabilities</a:t>
                      </a:r>
                    </a:p>
                    <a:p>
                      <a:pPr marL="285750" indent="-285750">
                        <a:buFont typeface="Arial" panose="020B0604020202020204" pitchFamily="34" charset="0"/>
                        <a:buChar char="•"/>
                      </a:pPr>
                      <a:r>
                        <a:rPr lang="en-US" sz="1600" b="0" baseline="0" dirty="0"/>
                        <a:t>Increases in working capital liability balances are cash </a:t>
                      </a:r>
                      <a:r>
                        <a:rPr lang="en-US" sz="1600" b="1" baseline="0" dirty="0"/>
                        <a:t>out</a:t>
                      </a:r>
                      <a:r>
                        <a:rPr lang="en-US" sz="1600" b="0" baseline="0" dirty="0"/>
                        <a:t>flows</a:t>
                      </a:r>
                    </a:p>
                    <a:p>
                      <a:pPr marL="285750" indent="-285750">
                        <a:buFont typeface="Arial" panose="020B0604020202020204" pitchFamily="34" charset="0"/>
                        <a:buChar char="•"/>
                      </a:pPr>
                      <a:r>
                        <a:rPr lang="en-US" sz="1600" b="0" baseline="0" dirty="0"/>
                        <a:t>Decreases in working capital liability balances are cash </a:t>
                      </a:r>
                      <a:r>
                        <a:rPr lang="en-US" sz="1600" b="1" baseline="0" dirty="0"/>
                        <a:t>in</a:t>
                      </a:r>
                      <a:r>
                        <a:rPr lang="en-US" sz="1600" b="0" baseline="0" dirty="0"/>
                        <a:t>flows</a:t>
                      </a:r>
                      <a:endParaRPr lang="en-US" sz="1600" dirty="0"/>
                    </a:p>
                  </a:txBody>
                  <a:tcPr/>
                </a:tc>
                <a:extLst>
                  <a:ext uri="{0D108BD9-81ED-4DB2-BD59-A6C34878D82A}">
                    <a16:rowId xmlns:a16="http://schemas.microsoft.com/office/drawing/2014/main" val="10003"/>
                  </a:ext>
                </a:extLst>
              </a:tr>
              <a:tr h="759561">
                <a:tc>
                  <a:txBody>
                    <a:bodyPr/>
                    <a:lstStyle/>
                    <a:p>
                      <a:r>
                        <a:rPr lang="en-US" dirty="0"/>
                        <a:t>-Gains on sale of assets</a:t>
                      </a:r>
                    </a:p>
                    <a:p>
                      <a:r>
                        <a:rPr lang="en-US" dirty="0"/>
                        <a:t>-Increases in deferred</a:t>
                      </a:r>
                      <a:r>
                        <a:rPr lang="en-US" baseline="0" dirty="0"/>
                        <a:t> tax assets</a:t>
                      </a:r>
                    </a:p>
                    <a:p>
                      <a:r>
                        <a:rPr lang="en-US" baseline="0" dirty="0"/>
                        <a:t>+Increases in deferred tax liabilities</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881200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Cash Flow Statement</a:t>
            </a:r>
          </a:p>
        </p:txBody>
      </p:sp>
      <p:sp>
        <p:nvSpPr>
          <p:cNvPr id="3" name="Content Placeholder 2"/>
          <p:cNvSpPr>
            <a:spLocks noGrp="1"/>
          </p:cNvSpPr>
          <p:nvPr>
            <p:ph idx="1"/>
          </p:nvPr>
        </p:nvSpPr>
        <p:spPr/>
        <p:txBody>
          <a:bodyPr/>
          <a:lstStyle/>
          <a:p>
            <a:r>
              <a:rPr lang="en-US" dirty="0"/>
              <a:t>CFO</a:t>
            </a:r>
          </a:p>
          <a:p>
            <a:pPr lvl="1"/>
            <a:r>
              <a:rPr lang="en-US" dirty="0"/>
              <a:t>Increases in assets represent a usage of funds (cash outflow)</a:t>
            </a:r>
          </a:p>
          <a:p>
            <a:pPr lvl="2"/>
            <a:r>
              <a:rPr lang="en-US" dirty="0"/>
              <a:t>A company buys inventory with cash</a:t>
            </a:r>
          </a:p>
          <a:p>
            <a:pPr lvl="1"/>
            <a:r>
              <a:rPr lang="en-US" dirty="0"/>
              <a:t>Increases in liabilities and equity represents a source of funds (cash inflow)</a:t>
            </a:r>
          </a:p>
          <a:p>
            <a:pPr lvl="2"/>
            <a:r>
              <a:rPr lang="en-US" dirty="0"/>
              <a:t>A company issues stock or debt and gets cash in return</a:t>
            </a:r>
          </a:p>
          <a:p>
            <a:pPr lvl="1"/>
            <a:r>
              <a:rPr lang="en-US" dirty="0"/>
              <a:t>This relationship is necessary to understand to properly construct financial models</a:t>
            </a:r>
          </a:p>
        </p:txBody>
      </p:sp>
    </p:spTree>
    <p:extLst>
      <p:ext uri="{BB962C8B-B14F-4D97-AF65-F5344CB8AC3E}">
        <p14:creationId xmlns:p14="http://schemas.microsoft.com/office/powerpoint/2010/main" val="5508528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 Expense</a:t>
            </a:r>
          </a:p>
        </p:txBody>
      </p:sp>
      <p:sp>
        <p:nvSpPr>
          <p:cNvPr id="3" name="Content Placeholder 2"/>
          <p:cNvSpPr>
            <a:spLocks noGrp="1"/>
          </p:cNvSpPr>
          <p:nvPr>
            <p:ph idx="1"/>
          </p:nvPr>
        </p:nvSpPr>
        <p:spPr/>
        <p:txBody>
          <a:bodyPr/>
          <a:lstStyle/>
          <a:p>
            <a:r>
              <a:rPr lang="en-US" dirty="0"/>
              <a:t>Interest expense</a:t>
            </a:r>
          </a:p>
          <a:p>
            <a:pPr lvl="1"/>
            <a:r>
              <a:rPr lang="en-US" dirty="0"/>
              <a:t>Interest expense = interest rate assumption x average debt during period</a:t>
            </a:r>
          </a:p>
          <a:p>
            <a:pPr lvl="1"/>
            <a:r>
              <a:rPr lang="en-US" dirty="0"/>
              <a:t>Interest expense = interest rate assumption x BOP debt</a:t>
            </a:r>
          </a:p>
          <a:p>
            <a:r>
              <a:rPr lang="en-US" dirty="0"/>
              <a:t>Interest income</a:t>
            </a:r>
          </a:p>
          <a:p>
            <a:pPr lvl="1"/>
            <a:r>
              <a:rPr lang="en-US" dirty="0"/>
              <a:t>Interest income = cash rate assumption x average cash during period</a:t>
            </a:r>
          </a:p>
          <a:p>
            <a:pPr lvl="1"/>
            <a:r>
              <a:rPr lang="en-US" dirty="0"/>
              <a:t>Interest income = cash rate assumption x BOP cash</a:t>
            </a:r>
          </a:p>
        </p:txBody>
      </p:sp>
    </p:spTree>
    <p:extLst>
      <p:ext uri="{BB962C8B-B14F-4D97-AF65-F5344CB8AC3E}">
        <p14:creationId xmlns:p14="http://schemas.microsoft.com/office/powerpoint/2010/main" val="6856743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 Expense</a:t>
            </a:r>
          </a:p>
        </p:txBody>
      </p:sp>
      <p:sp>
        <p:nvSpPr>
          <p:cNvPr id="3" name="Content Placeholder 2"/>
          <p:cNvSpPr>
            <a:spLocks noGrp="1"/>
          </p:cNvSpPr>
          <p:nvPr>
            <p:ph idx="1"/>
          </p:nvPr>
        </p:nvSpPr>
        <p:spPr/>
        <p:txBody>
          <a:bodyPr/>
          <a:lstStyle/>
          <a:p>
            <a:r>
              <a:rPr lang="en-US" dirty="0"/>
              <a:t>Pros and cons of using average balances</a:t>
            </a:r>
          </a:p>
          <a:p>
            <a:pPr lvl="1"/>
            <a:r>
              <a:rPr lang="en-US" dirty="0"/>
              <a:t>Most common approach</a:t>
            </a:r>
          </a:p>
          <a:p>
            <a:pPr lvl="1"/>
            <a:r>
              <a:rPr lang="en-US" dirty="0"/>
              <a:t>More conceptually accurate than BOP</a:t>
            </a:r>
          </a:p>
          <a:p>
            <a:pPr lvl="2"/>
            <a:r>
              <a:rPr lang="en-US" dirty="0"/>
              <a:t>Mitigates errors introduced by large changes in debt or cash during the period</a:t>
            </a:r>
          </a:p>
        </p:txBody>
      </p:sp>
    </p:spTree>
    <p:extLst>
      <p:ext uri="{BB962C8B-B14F-4D97-AF65-F5344CB8AC3E}">
        <p14:creationId xmlns:p14="http://schemas.microsoft.com/office/powerpoint/2010/main" val="2244431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and sensitivity analysis</a:t>
            </a:r>
          </a:p>
        </p:txBody>
      </p:sp>
      <p:sp>
        <p:nvSpPr>
          <p:cNvPr id="3" name="Content Placeholder 2"/>
          <p:cNvSpPr>
            <a:spLocks noGrp="1"/>
          </p:cNvSpPr>
          <p:nvPr>
            <p:ph idx="1"/>
          </p:nvPr>
        </p:nvSpPr>
        <p:spPr/>
        <p:txBody>
          <a:bodyPr/>
          <a:lstStyle/>
          <a:p>
            <a:r>
              <a:rPr lang="en-US" dirty="0"/>
              <a:t>Sensitivity analysis using data tables</a:t>
            </a:r>
          </a:p>
          <a:p>
            <a:pPr lvl="1"/>
            <a:r>
              <a:rPr lang="en-US" dirty="0"/>
              <a:t>Scenario analysis is quite useful but is one dimensional </a:t>
            </a:r>
          </a:p>
          <a:p>
            <a:pPr lvl="1"/>
            <a:r>
              <a:rPr lang="en-US" dirty="0"/>
              <a:t>Show results assuming everything goes well (best case) or everything goes poorly (worst case)</a:t>
            </a:r>
          </a:p>
          <a:p>
            <a:pPr lvl="1"/>
            <a:r>
              <a:rPr lang="en-US" dirty="0"/>
              <a:t>What would forecast EPS look like if certain inputs (i.e. revenues) performed well but others (i.e. gross margins) did not?</a:t>
            </a:r>
          </a:p>
          <a:p>
            <a:pPr lvl="2"/>
            <a:r>
              <a:rPr lang="en-US" dirty="0"/>
              <a:t>More realistic scenario</a:t>
            </a:r>
          </a:p>
          <a:p>
            <a:pPr lvl="2"/>
            <a:r>
              <a:rPr lang="en-US" dirty="0"/>
              <a:t>For a company to generate strong revenues, may need to sacrifice margin</a:t>
            </a:r>
          </a:p>
          <a:p>
            <a:pPr lvl="1"/>
            <a:r>
              <a:rPr lang="en-US" dirty="0"/>
              <a:t>Data tables allow us to examine a piece of output data – like EPS – and how it is impacted by changes in input variables such as revenue and gross margin assumptions</a:t>
            </a:r>
          </a:p>
          <a:p>
            <a:pPr lvl="1"/>
            <a:endParaRPr lang="en-US" dirty="0"/>
          </a:p>
        </p:txBody>
      </p:sp>
    </p:spTree>
    <p:extLst>
      <p:ext uri="{BB962C8B-B14F-4D97-AF65-F5344CB8AC3E}">
        <p14:creationId xmlns:p14="http://schemas.microsoft.com/office/powerpoint/2010/main" val="18295393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Non-recurring items</a:t>
            </a:r>
          </a:p>
        </p:txBody>
      </p:sp>
      <p:sp>
        <p:nvSpPr>
          <p:cNvPr id="3" name="Content Placeholder 2"/>
          <p:cNvSpPr>
            <a:spLocks noGrp="1"/>
          </p:cNvSpPr>
          <p:nvPr>
            <p:ph idx="1"/>
          </p:nvPr>
        </p:nvSpPr>
        <p:spPr/>
        <p:txBody>
          <a:bodyPr>
            <a:normAutofit/>
          </a:bodyPr>
          <a:lstStyle/>
          <a:p>
            <a:r>
              <a:rPr lang="en-US" sz="2000" dirty="0"/>
              <a:t>Some items reported on the IS may not be expected to recur in the future:</a:t>
            </a:r>
          </a:p>
          <a:p>
            <a:pPr lvl="1"/>
            <a:r>
              <a:rPr lang="en-US" sz="1800" dirty="0"/>
              <a:t>Restructuring expenses</a:t>
            </a:r>
          </a:p>
          <a:p>
            <a:pPr lvl="1"/>
            <a:r>
              <a:rPr lang="en-US" sz="1800" dirty="0"/>
              <a:t>One-time write-offs</a:t>
            </a:r>
          </a:p>
          <a:p>
            <a:pPr lvl="1"/>
            <a:r>
              <a:rPr lang="en-US" sz="1800" dirty="0"/>
              <a:t>Gains/losses on sale of assets</a:t>
            </a:r>
          </a:p>
          <a:p>
            <a:pPr lvl="1"/>
            <a:r>
              <a:rPr lang="en-US" sz="1800" dirty="0"/>
              <a:t>Severance costs</a:t>
            </a:r>
          </a:p>
          <a:p>
            <a:pPr lvl="1"/>
            <a:r>
              <a:rPr lang="en-US" sz="1800" dirty="0"/>
              <a:t>Litigation gains/losses</a:t>
            </a:r>
          </a:p>
          <a:p>
            <a:r>
              <a:rPr lang="en-US" sz="2000" dirty="0"/>
              <a:t>Eliminate non-recurring items from historical results</a:t>
            </a:r>
          </a:p>
          <a:p>
            <a:pPr lvl="1"/>
            <a:r>
              <a:rPr lang="en-US" sz="1800" dirty="0"/>
              <a:t>Clearer picture of true operating results</a:t>
            </a:r>
          </a:p>
          <a:p>
            <a:pPr lvl="1"/>
            <a:r>
              <a:rPr lang="en-US" sz="1800" dirty="0"/>
              <a:t>Important for valuation which is forward looking</a:t>
            </a:r>
          </a:p>
          <a:p>
            <a:pPr lvl="1"/>
            <a:r>
              <a:rPr lang="en-US" sz="1800" dirty="0"/>
              <a:t>Called “normalizing” or “pro forma”</a:t>
            </a:r>
          </a:p>
          <a:p>
            <a:pPr lvl="1"/>
            <a:r>
              <a:rPr lang="en-US" sz="1800" dirty="0"/>
              <a:t>Reduces forecasting error – nonrecurring items skew historical margins/ratios</a:t>
            </a:r>
          </a:p>
        </p:txBody>
      </p:sp>
    </p:spTree>
    <p:extLst>
      <p:ext uri="{BB962C8B-B14F-4D97-AF65-F5344CB8AC3E}">
        <p14:creationId xmlns:p14="http://schemas.microsoft.com/office/powerpoint/2010/main" val="42557271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Non-recurring items</a:t>
            </a:r>
          </a:p>
        </p:txBody>
      </p:sp>
      <p:sp>
        <p:nvSpPr>
          <p:cNvPr id="3" name="Content Placeholder 2"/>
          <p:cNvSpPr>
            <a:spLocks noGrp="1"/>
          </p:cNvSpPr>
          <p:nvPr>
            <p:ph sz="half" idx="1"/>
          </p:nvPr>
        </p:nvSpPr>
        <p:spPr/>
        <p:txBody>
          <a:bodyPr>
            <a:normAutofit fontScale="92500" lnSpcReduction="10000"/>
          </a:bodyPr>
          <a:lstStyle/>
          <a:p>
            <a:r>
              <a:rPr lang="en-US" dirty="0"/>
              <a:t>Tax issues with nonrecurring items</a:t>
            </a:r>
          </a:p>
          <a:p>
            <a:pPr lvl="1"/>
            <a:r>
              <a:rPr lang="en-US" dirty="0"/>
              <a:t>Eliminating taxable nonrecurring items should also eliminate their tax impact</a:t>
            </a:r>
          </a:p>
          <a:p>
            <a:pPr lvl="2"/>
            <a:r>
              <a:rPr lang="en-US" dirty="0"/>
              <a:t>If a nonrecurring expense (income) is ignored, so should the associated tax shield (expense)</a:t>
            </a:r>
          </a:p>
          <a:p>
            <a:pPr lvl="2"/>
            <a:r>
              <a:rPr lang="en-US" dirty="0"/>
              <a:t>Some exceptions – companies with complicated tax issues often disclose nonrecurring items without any tax adjustments</a:t>
            </a:r>
          </a:p>
          <a:p>
            <a:endParaRPr lang="en-US" dirty="0"/>
          </a:p>
        </p:txBody>
      </p:sp>
      <p:sp>
        <p:nvSpPr>
          <p:cNvPr id="4" name="Content Placeholder 3"/>
          <p:cNvSpPr>
            <a:spLocks noGrp="1"/>
          </p:cNvSpPr>
          <p:nvPr>
            <p:ph sz="half" idx="2"/>
          </p:nvPr>
        </p:nvSpPr>
        <p:spPr/>
        <p:txBody>
          <a:bodyPr>
            <a:normAutofit fontScale="92500" lnSpcReduction="10000"/>
          </a:bodyPr>
          <a:lstStyle/>
          <a:p>
            <a:r>
              <a:rPr lang="en-US" sz="2600" dirty="0"/>
              <a:t>Do not have to worry about:</a:t>
            </a:r>
          </a:p>
          <a:p>
            <a:pPr lvl="1"/>
            <a:r>
              <a:rPr lang="en-US" sz="2200" dirty="0"/>
              <a:t>Extraordinary gains and losses</a:t>
            </a:r>
          </a:p>
          <a:p>
            <a:pPr lvl="1"/>
            <a:r>
              <a:rPr lang="en-US" sz="2200" dirty="0"/>
              <a:t>Gains / losses from discontinued operations</a:t>
            </a:r>
          </a:p>
          <a:p>
            <a:pPr lvl="1"/>
            <a:r>
              <a:rPr lang="en-US" sz="2200" dirty="0"/>
              <a:t>Gains / losses due to accounting changes</a:t>
            </a:r>
          </a:p>
          <a:p>
            <a:pPr lvl="1"/>
            <a:endParaRPr lang="en-US" dirty="0"/>
          </a:p>
          <a:p>
            <a:r>
              <a:rPr lang="en-US" sz="2200" dirty="0"/>
              <a:t>FASB requires these get reported net of tax and below net income so if they exist, they have already been eliminated</a:t>
            </a:r>
          </a:p>
        </p:txBody>
      </p:sp>
    </p:spTree>
    <p:extLst>
      <p:ext uri="{BB962C8B-B14F-4D97-AF65-F5344CB8AC3E}">
        <p14:creationId xmlns:p14="http://schemas.microsoft.com/office/powerpoint/2010/main" val="37981612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Non-recurring items</a:t>
            </a:r>
          </a:p>
        </p:txBody>
      </p:sp>
      <p:sp>
        <p:nvSpPr>
          <p:cNvPr id="3" name="Content Placeholder 2"/>
          <p:cNvSpPr>
            <a:spLocks noGrp="1"/>
          </p:cNvSpPr>
          <p:nvPr>
            <p:ph idx="1"/>
          </p:nvPr>
        </p:nvSpPr>
        <p:spPr/>
        <p:txBody>
          <a:bodyPr>
            <a:normAutofit fontScale="92500" lnSpcReduction="10000"/>
          </a:bodyPr>
          <a:lstStyle/>
          <a:p>
            <a:r>
              <a:rPr lang="en-US" dirty="0"/>
              <a:t>Management has discretion over what items to classify as nonrecurring</a:t>
            </a:r>
          </a:p>
          <a:p>
            <a:pPr lvl="1"/>
            <a:r>
              <a:rPr lang="en-US" dirty="0"/>
              <a:t>One company’s nonrecurring item is another’s recurring item</a:t>
            </a:r>
          </a:p>
          <a:p>
            <a:pPr lvl="1"/>
            <a:r>
              <a:rPr lang="en-US" dirty="0"/>
              <a:t>Analysts generally accept management’s characterization of an item as nonrecurring, creating the incentive for earnings manipulation</a:t>
            </a:r>
          </a:p>
          <a:p>
            <a:pPr lvl="1"/>
            <a:r>
              <a:rPr lang="en-US" dirty="0"/>
              <a:t>Company’s that frequently report nonrecurring expenses will lead to a reputation as a “low earnings quality” firm, negatively affecting valuation</a:t>
            </a:r>
          </a:p>
          <a:p>
            <a:r>
              <a:rPr lang="en-US" dirty="0"/>
              <a:t>Disclosure of nonrecurring items</a:t>
            </a:r>
          </a:p>
          <a:p>
            <a:pPr lvl="1"/>
            <a:r>
              <a:rPr lang="en-US" dirty="0"/>
              <a:t>There is no uniform presentation of these items on IS</a:t>
            </a:r>
          </a:p>
          <a:p>
            <a:pPr lvl="1"/>
            <a:r>
              <a:rPr lang="en-US" dirty="0"/>
              <a:t>In 10-K and 10-Q, they are often aggregated within major expense categories like COGS, SG&amp;A, operating expenses with a disclosure in the footnotes</a:t>
            </a:r>
          </a:p>
          <a:p>
            <a:pPr lvl="1"/>
            <a:r>
              <a:rPr lang="en-US" dirty="0"/>
              <a:t>Often no disclosures in footnotes but detailed in PRs (and less frequently in conference call transcript)</a:t>
            </a:r>
          </a:p>
        </p:txBody>
      </p:sp>
    </p:spTree>
    <p:extLst>
      <p:ext uri="{BB962C8B-B14F-4D97-AF65-F5344CB8AC3E}">
        <p14:creationId xmlns:p14="http://schemas.microsoft.com/office/powerpoint/2010/main" val="23861294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Non-recurring items</a:t>
            </a:r>
          </a:p>
        </p:txBody>
      </p:sp>
      <p:sp>
        <p:nvSpPr>
          <p:cNvPr id="3" name="Content Placeholder 2"/>
          <p:cNvSpPr>
            <a:spLocks noGrp="1"/>
          </p:cNvSpPr>
          <p:nvPr>
            <p:ph idx="1"/>
          </p:nvPr>
        </p:nvSpPr>
        <p:spPr/>
        <p:txBody>
          <a:bodyPr>
            <a:normAutofit/>
          </a:bodyPr>
          <a:lstStyle/>
          <a:p>
            <a:r>
              <a:rPr lang="en-US" sz="2000" dirty="0"/>
              <a:t>Stock based compensations (SBC)</a:t>
            </a:r>
          </a:p>
          <a:p>
            <a:pPr lvl="1"/>
            <a:r>
              <a:rPr lang="en-US" sz="1800" dirty="0"/>
              <a:t>SBC is a </a:t>
            </a:r>
            <a:r>
              <a:rPr lang="en-US" sz="1800" u="sng" dirty="0"/>
              <a:t>recurring non cash expense</a:t>
            </a:r>
            <a:r>
              <a:rPr lang="en-US" sz="1800" dirty="0"/>
              <a:t> routinely eliminated from earnings and EPS by analysts in many industries</a:t>
            </a:r>
          </a:p>
          <a:p>
            <a:pPr lvl="1"/>
            <a:r>
              <a:rPr lang="en-US" sz="1800" dirty="0"/>
              <a:t>Rationale is that SBC expense is a non cash expense (counter argument is that SBC is employee compensation and should be counted)</a:t>
            </a:r>
          </a:p>
          <a:p>
            <a:pPr lvl="1"/>
            <a:r>
              <a:rPr lang="en-US" sz="1800" dirty="0"/>
              <a:t>Another rationale is that SBC represents a “double drag” on EPS, as it reduces NI, while diluted weighted average shares outstanding reflect (counter argument is that NI captures current period SBC while shares outstanding captures the effect of prior periods’ SBC)</a:t>
            </a:r>
          </a:p>
          <a:p>
            <a:pPr lvl="1"/>
            <a:r>
              <a:rPr lang="en-US" sz="1800" dirty="0"/>
              <a:t>Eliminating is the preferred approach</a:t>
            </a:r>
          </a:p>
          <a:p>
            <a:pPr lvl="2"/>
            <a:r>
              <a:rPr lang="en-US" sz="1600" dirty="0"/>
              <a:t>Treat SBC expense uniformly</a:t>
            </a:r>
          </a:p>
          <a:p>
            <a:pPr lvl="2"/>
            <a:r>
              <a:rPr lang="en-US" sz="1600" dirty="0"/>
              <a:t>If you keep SBC in COGS, SG&amp;A, etc. be consistent in all your historical years</a:t>
            </a:r>
          </a:p>
        </p:txBody>
      </p:sp>
    </p:spTree>
    <p:extLst>
      <p:ext uri="{BB962C8B-B14F-4D97-AF65-F5344CB8AC3E}">
        <p14:creationId xmlns:p14="http://schemas.microsoft.com/office/powerpoint/2010/main" val="4925581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Non-recurring items</a:t>
            </a:r>
          </a:p>
        </p:txBody>
      </p:sp>
      <p:sp>
        <p:nvSpPr>
          <p:cNvPr id="3" name="Content Placeholder 2"/>
          <p:cNvSpPr>
            <a:spLocks noGrp="1"/>
          </p:cNvSpPr>
          <p:nvPr>
            <p:ph idx="1"/>
          </p:nvPr>
        </p:nvSpPr>
        <p:spPr/>
        <p:txBody>
          <a:bodyPr/>
          <a:lstStyle/>
          <a:p>
            <a:r>
              <a:rPr lang="en-US" dirty="0"/>
              <a:t>SBC</a:t>
            </a:r>
          </a:p>
          <a:p>
            <a:pPr lvl="1"/>
            <a:r>
              <a:rPr lang="en-US" dirty="0"/>
              <a:t>Under GAAP, SBC is added back to CFO on the CFS</a:t>
            </a:r>
          </a:p>
          <a:p>
            <a:pPr lvl="2"/>
            <a:r>
              <a:rPr lang="en-US" dirty="0"/>
              <a:t>If you eliminate historical SBC and forecast expenses excluding SBC: you do not need to add back SBC expense to CFO, since it’s no longer reducing NI on the IS</a:t>
            </a:r>
          </a:p>
          <a:p>
            <a:pPr lvl="2"/>
            <a:r>
              <a:rPr lang="en-US" dirty="0"/>
              <a:t>If you do not eliminate historical SBC and forecast expenses including SBC: add back SBC expense, since it’s a noncash expense reducing NI</a:t>
            </a:r>
          </a:p>
        </p:txBody>
      </p:sp>
    </p:spTree>
    <p:extLst>
      <p:ext uri="{BB962C8B-B14F-4D97-AF65-F5344CB8AC3E}">
        <p14:creationId xmlns:p14="http://schemas.microsoft.com/office/powerpoint/2010/main" val="18376090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1014</TotalTime>
  <Words>6086</Words>
  <Application>Microsoft Office PowerPoint</Application>
  <PresentationFormat>On-screen Show (4:3)</PresentationFormat>
  <Paragraphs>577</Paragraphs>
  <Slides>86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86</vt:i4>
      </vt:variant>
    </vt:vector>
  </HeadingPairs>
  <TitlesOfParts>
    <vt:vector size="90" baseType="lpstr">
      <vt:lpstr>Arial</vt:lpstr>
      <vt:lpstr>Calibri</vt:lpstr>
      <vt:lpstr>Wingdings</vt:lpstr>
      <vt:lpstr>Clarity</vt:lpstr>
      <vt:lpstr>Financial modeling</vt:lpstr>
      <vt:lpstr>Model inputs</vt:lpstr>
      <vt:lpstr>Introduction </vt:lpstr>
      <vt:lpstr>Collecting Financial Statements</vt:lpstr>
      <vt:lpstr>Collecting Financial Statements</vt:lpstr>
      <vt:lpstr>Collecting Financial Statements</vt:lpstr>
      <vt:lpstr>Collecting Financial Statements</vt:lpstr>
      <vt:lpstr>Collecting Financial Statements</vt:lpstr>
      <vt:lpstr>Company Background – Target </vt:lpstr>
      <vt:lpstr>Financial Ratios</vt:lpstr>
      <vt:lpstr>Ratio Interpretation</vt:lpstr>
      <vt:lpstr>Ratio Interpretation</vt:lpstr>
      <vt:lpstr>Ratio Interpretation</vt:lpstr>
      <vt:lpstr>Ratio Interpretation</vt:lpstr>
      <vt:lpstr>Ratio Interpretation</vt:lpstr>
      <vt:lpstr>Ratio Interpretation</vt:lpstr>
      <vt:lpstr>Ratio Interpretation</vt:lpstr>
      <vt:lpstr>Ratio Interpretation</vt:lpstr>
      <vt:lpstr>Ratio Interpretation </vt:lpstr>
      <vt:lpstr>Ratio Interpretation</vt:lpstr>
      <vt:lpstr>Ratios</vt:lpstr>
      <vt:lpstr>Ratios</vt:lpstr>
      <vt:lpstr>Ratios</vt:lpstr>
      <vt:lpstr>The Basics: Excel Functions</vt:lpstr>
      <vt:lpstr>The Basics: Excel Functions</vt:lpstr>
      <vt:lpstr>Ratio Analysis</vt:lpstr>
      <vt:lpstr>Ratio Analysis</vt:lpstr>
      <vt:lpstr>Ratios – I/S</vt:lpstr>
      <vt:lpstr>Model Template - Assumptions</vt:lpstr>
      <vt:lpstr>The Basics: Excel Functions</vt:lpstr>
      <vt:lpstr>The Basics: Excel Functions</vt:lpstr>
      <vt:lpstr>The Basics: Excel Functions</vt:lpstr>
      <vt:lpstr>Assumptions</vt:lpstr>
      <vt:lpstr>Assumptions</vt:lpstr>
      <vt:lpstr>Model Template - Projections</vt:lpstr>
      <vt:lpstr>Projections – Base Case</vt:lpstr>
      <vt:lpstr>Valuation – Base Case</vt:lpstr>
      <vt:lpstr>Model Template - Dividend Discount Model</vt:lpstr>
      <vt:lpstr>Model Template - Dividend Discount Model</vt:lpstr>
      <vt:lpstr>Valuation – DDM – Base Case</vt:lpstr>
      <vt:lpstr>Capital Structure</vt:lpstr>
      <vt:lpstr>Model Template - WACC</vt:lpstr>
      <vt:lpstr>WACC</vt:lpstr>
      <vt:lpstr>WACC</vt:lpstr>
      <vt:lpstr>WACC</vt:lpstr>
      <vt:lpstr>Model Template - Discounted Cash Flow Model</vt:lpstr>
      <vt:lpstr>Valuation – DCF Model – Base Case</vt:lpstr>
      <vt:lpstr>DuPont ROE Calculations</vt:lpstr>
      <vt:lpstr>DuPont ROE Calculations</vt:lpstr>
      <vt:lpstr>Sustainable Growth Rate</vt:lpstr>
      <vt:lpstr>SGR Calculations</vt:lpstr>
      <vt:lpstr>DuPont ROE &amp; SGR Calculations</vt:lpstr>
      <vt:lpstr>DuPont ROE &amp; SGR Calculations</vt:lpstr>
      <vt:lpstr>DuPont ROE &amp; SGR Calculations</vt:lpstr>
      <vt:lpstr>Multi-Stage Valuation – DDM</vt:lpstr>
      <vt:lpstr>Multi-Stage Valuation – DDM</vt:lpstr>
      <vt:lpstr>Economic Value Added</vt:lpstr>
      <vt:lpstr>Economic Value Added</vt:lpstr>
      <vt:lpstr>Residual Income</vt:lpstr>
      <vt:lpstr>RI Calculation</vt:lpstr>
      <vt:lpstr>RI Calculation Example</vt:lpstr>
      <vt:lpstr>RI Valuation</vt:lpstr>
      <vt:lpstr>Corporate finance</vt:lpstr>
      <vt:lpstr>The Basics: Time Value of Money</vt:lpstr>
      <vt:lpstr>The Basics: Time Value of Money</vt:lpstr>
      <vt:lpstr>Capital Budgeting</vt:lpstr>
      <vt:lpstr>Capital Budgeting</vt:lpstr>
      <vt:lpstr>Net Present Value (NPV)</vt:lpstr>
      <vt:lpstr>Internal Rate of Return (IRR)</vt:lpstr>
      <vt:lpstr>Payback Period</vt:lpstr>
      <vt:lpstr>The Agency Problem</vt:lpstr>
      <vt:lpstr>Appendix</vt:lpstr>
      <vt:lpstr>The Basics: Excel Function</vt:lpstr>
      <vt:lpstr>PP&amp;E</vt:lpstr>
      <vt:lpstr>Retained Earnings</vt:lpstr>
      <vt:lpstr>Non-Debt BS Line Items</vt:lpstr>
      <vt:lpstr>Cash Flow Statement</vt:lpstr>
      <vt:lpstr>Cash Flow Statement</vt:lpstr>
      <vt:lpstr>Interest Expense</vt:lpstr>
      <vt:lpstr>Interest Expense</vt:lpstr>
      <vt:lpstr>Scenario and sensitivity analysis</vt:lpstr>
      <vt:lpstr>Non-recurring items</vt:lpstr>
      <vt:lpstr>Non-recurring items</vt:lpstr>
      <vt:lpstr>Non-recurring items</vt:lpstr>
      <vt:lpstr>Non-recurring items</vt:lpstr>
      <vt:lpstr>Non-recurring items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Kelley</dc:creator>
  <cp:lastModifiedBy>nick Pollari</cp:lastModifiedBy>
  <cp:revision>82</cp:revision>
  <dcterms:created xsi:type="dcterms:W3CDTF">2014-09-07T15:47:25Z</dcterms:created>
  <dcterms:modified xsi:type="dcterms:W3CDTF">2020-07-10T18:13:15Z</dcterms:modified>
</cp:coreProperties>
</file>